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326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33400"/>
            <a:ext cx="1202957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DO CÓDIGO GERADO POR 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826770"/>
            <a:ext cx="12029574" cy="58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37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Vibe Coding </a:t>
            </a:r>
            <a:pPr algn="l" indent="0" marL="0">
              <a:lnSpc>
                <a:spcPct val="102000"/>
              </a:lnSpc>
              <a:buNone/>
            </a:pPr>
            <a:r>
              <a:rPr lang="en-US" sz="2100" b="1" spc="-37" kern="0" dirty="0">
                <a:solidFill>
                  <a:srgbClr val="8EA4C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 </a:t>
            </a:r>
            <a:pPr algn="l" indent="0" marL="0">
              <a:lnSpc>
                <a:spcPct val="102000"/>
              </a:lnSpc>
              <a:buNone/>
            </a:pPr>
            <a:r>
              <a:rPr lang="en-US" sz="4200" b="1" spc="-37" kern="0" dirty="0">
                <a:solidFill>
                  <a:srgbClr val="F582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Spec-Driven Development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4362391" y="885349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94F3A"/>
          </a:solidFill>
          <a:ln/>
        </p:spPr>
      </p:sp>
      <p:sp>
        <p:nvSpPr>
          <p:cNvPr id="6" name="Text 4"/>
          <p:cNvSpPr/>
          <p:nvPr/>
        </p:nvSpPr>
        <p:spPr>
          <a:xfrm>
            <a:off x="14590991" y="852964"/>
            <a:ext cx="11435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frágil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5925086" y="885349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F58220"/>
          </a:solidFill>
          <a:ln/>
        </p:spPr>
      </p:sp>
      <p:sp>
        <p:nvSpPr>
          <p:cNvPr id="8" name="Text 6"/>
          <p:cNvSpPr/>
          <p:nvPr/>
        </p:nvSpPr>
        <p:spPr>
          <a:xfrm>
            <a:off x="16153686" y="852964"/>
            <a:ext cx="15247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rastreável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1580317"/>
            <a:ext cx="16916400" cy="3305294"/>
          </a:xfrm>
          <a:prstGeom prst="roundRect">
            <a:avLst>
              <a:gd name="adj" fmla="val 5763"/>
            </a:avLst>
          </a:prstGeom>
          <a:solidFill>
            <a:srgbClr val="14305F">
              <a:alpha val="55000"/>
            </a:srgbClr>
          </a:solidFill>
          <a:ln w="7620">
            <a:solidFill>
              <a:srgbClr val="4A72B8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797487"/>
            <a:ext cx="9525" cy="2870954"/>
          </a:xfrm>
          <a:prstGeom prst="rect">
            <a:avLst/>
          </a:prstGeom>
          <a:solidFill>
            <a:srgbClr val="4A72B8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078474"/>
            <a:ext cx="23355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modo improviso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960120" y="2364224"/>
            <a:ext cx="23355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37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Vibe Coding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0120" y="2802374"/>
            <a:ext cx="2335530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C9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descreve, a IA gera. Sem artefatos intermediários — a especificação vive (e se perde) no chat.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960120" y="3842504"/>
            <a:ext cx="1379220" cy="243840"/>
          </a:xfrm>
          <a:prstGeom prst="roundRect">
            <a:avLst>
              <a:gd name="adj" fmla="val 50000"/>
            </a:avLst>
          </a:prstGeom>
          <a:solidFill>
            <a:srgbClr val="E94F3A">
              <a:alpha val="8000"/>
            </a:srgbClr>
          </a:solidFill>
          <a:ln w="7620">
            <a:solidFill>
              <a:srgbClr val="E94F3A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2990" y="3888224"/>
            <a:ext cx="12496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8A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contexto volátil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4143494"/>
            <a:ext cx="939165" cy="243840"/>
          </a:xfrm>
          <a:prstGeom prst="roundRect">
            <a:avLst>
              <a:gd name="adj" fmla="val 50000"/>
            </a:avLst>
          </a:prstGeom>
          <a:solidFill>
            <a:srgbClr val="E94F3A">
              <a:alpha val="8000"/>
            </a:srgbClr>
          </a:solidFill>
          <a:ln w="7620">
            <a:solidFill>
              <a:srgbClr val="E94F3A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2990" y="4189214"/>
            <a:ext cx="809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8A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retrabalho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56435" y="4143494"/>
            <a:ext cx="1085850" cy="243840"/>
          </a:xfrm>
          <a:prstGeom prst="roundRect">
            <a:avLst>
              <a:gd name="adj" fmla="val 50000"/>
            </a:avLst>
          </a:prstGeom>
          <a:solidFill>
            <a:srgbClr val="E94F3A">
              <a:alpha val="8000"/>
            </a:srgbClr>
          </a:solidFill>
          <a:ln w="7620">
            <a:solidFill>
              <a:srgbClr val="E94F3A">
                <a:alpha val="5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9305" y="4189214"/>
            <a:ext cx="9563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8A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 rastreio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5220" y="1797487"/>
            <a:ext cx="13662660" cy="287095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85800" y="5095161"/>
            <a:ext cx="16916400" cy="3801070"/>
          </a:xfrm>
          <a:prstGeom prst="roundRect">
            <a:avLst>
              <a:gd name="adj" fmla="val 5012"/>
            </a:avLst>
          </a:prstGeom>
          <a:solidFill>
            <a:srgbClr val="1F3F76">
              <a:alpha val="55000"/>
            </a:srgbClr>
          </a:solidFill>
          <a:ln w="7620">
            <a:solidFill>
              <a:srgbClr val="F58220">
                <a:alpha val="4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29000" y="5312331"/>
            <a:ext cx="9525" cy="3366730"/>
          </a:xfrm>
          <a:prstGeom prst="rect">
            <a:avLst/>
          </a:prstGeom>
          <a:solidFill>
            <a:srgbClr val="F58220">
              <a:alpha val="3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461159"/>
            <a:ext cx="233553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582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/specify · /plan · /tasks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960120" y="5937409"/>
            <a:ext cx="2335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spc="-37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Spec-Driven 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spc="-37" kern="0" dirty="0">
                <a:solidFill>
                  <a:srgbClr val="F5822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Development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960120" y="6718459"/>
            <a:ext cx="233553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C9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intenção vira artefatos vivos. Cada etapa produz um documento que a IA — e o time — consultam para gerar e regenerar código.</a:t>
            </a:r>
            <a:endParaRPr lang="en-US" sz="1275" dirty="0"/>
          </a:p>
        </p:txBody>
      </p:sp>
      <p:sp>
        <p:nvSpPr>
          <p:cNvPr id="26" name="Shape 23"/>
          <p:cNvSpPr/>
          <p:nvPr/>
        </p:nvSpPr>
        <p:spPr>
          <a:xfrm>
            <a:off x="960120" y="7985284"/>
            <a:ext cx="1012508" cy="243840"/>
          </a:xfrm>
          <a:prstGeom prst="roundRect">
            <a:avLst>
              <a:gd name="adj" fmla="val 50000"/>
            </a:avLst>
          </a:prstGeom>
          <a:solidFill>
            <a:srgbClr val="F58220">
              <a:alpha val="8000"/>
            </a:srgbClr>
          </a:solidFill>
          <a:ln w="7620">
            <a:solidFill>
              <a:srgbClr val="F58220">
                <a:alpha val="5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2990" y="8031004"/>
            <a:ext cx="8829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B0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specs vivas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029778" y="7985284"/>
            <a:ext cx="792480" cy="243840"/>
          </a:xfrm>
          <a:prstGeom prst="roundRect">
            <a:avLst>
              <a:gd name="adj" fmla="val 50000"/>
            </a:avLst>
          </a:prstGeom>
          <a:solidFill>
            <a:srgbClr val="F58220">
              <a:alpha val="8000"/>
            </a:srgbClr>
          </a:solidFill>
          <a:ln w="7620">
            <a:solidFill>
              <a:srgbClr val="F58220">
                <a:alpha val="5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32648" y="8031004"/>
            <a:ext cx="6629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B0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testável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60120" y="8286274"/>
            <a:ext cx="1012508" cy="243840"/>
          </a:xfrm>
          <a:prstGeom prst="roundRect">
            <a:avLst>
              <a:gd name="adj" fmla="val 50000"/>
            </a:avLst>
          </a:prstGeom>
          <a:solidFill>
            <a:srgbClr val="F58220">
              <a:alpha val="8000"/>
            </a:srgbClr>
          </a:solidFill>
          <a:ln w="7620">
            <a:solidFill>
              <a:srgbClr val="F58220">
                <a:alpha val="5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62990" y="8331994"/>
            <a:ext cx="8829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8" kern="0" dirty="0">
                <a:solidFill>
                  <a:srgbClr val="FFB0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regenerável</a:t>
            </a:r>
            <a:endParaRPr lang="en-US" sz="9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20" y="5312331"/>
            <a:ext cx="13662660" cy="336673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85800" y="9105900"/>
            <a:ext cx="16916400" cy="647700"/>
          </a:xfrm>
          <a:prstGeom prst="roundRect">
            <a:avLst>
              <a:gd name="adj" fmla="val 5882"/>
            </a:avLst>
          </a:prstGeom>
          <a:solidFill>
            <a:srgbClr val="F58220">
              <a:alpha val="22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685800" y="9105900"/>
            <a:ext cx="53340" cy="647700"/>
          </a:xfrm>
          <a:prstGeom prst="rect">
            <a:avLst/>
          </a:prstGeom>
          <a:solidFill>
            <a:srgbClr val="F58220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296400"/>
            <a:ext cx="266700" cy="2667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01140" y="9298543"/>
            <a:ext cx="16291487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5822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diferença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 vibe coding, o código </a:t>
            </a:r>
            <a:pPr algn="l" indent="0" marL="0">
              <a:lnSpc>
                <a:spcPct val="145000"/>
              </a:lnSpc>
              <a:buNone/>
            </a:pPr>
            <a:r>
              <a:rPr lang="en-US" sz="1425" i="1" dirty="0">
                <a:solidFill>
                  <a:srgbClr val="C9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verdade — e ela se perde a cada prompt. Em SDD, a </a:t>
            </a:r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F5822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especificação é a fonte de verdade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o código é gerado, descartado e regenerado a partir dela.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2026-05-24T12:02:37Z</dcterms:created>
  <dcterms:modified xsi:type="dcterms:W3CDTF">2026-05-24T12:02:37Z</dcterms:modified>
</cp:coreProperties>
</file>