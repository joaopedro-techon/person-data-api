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905000" y="2575322"/>
            <a:ext cx="139312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363" kern="0" dirty="0">
                <a:solidFill>
                  <a:srgbClr val="FF6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EVOLUÇÃO DA ARQUITETURA DE PÓS-VENDA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905000" y="3203972"/>
            <a:ext cx="13931265" cy="4545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700" b="1" spc="-217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Em 4 anos, o pós-venda </a:t>
            </a:r>
            <a:pPr algn="l" indent="0" marL="0">
              <a:lnSpc>
                <a:spcPct val="102000"/>
              </a:lnSpc>
              <a:buNone/>
            </a:pPr>
            <a:r>
              <a:rPr lang="en-US" sz="8700" b="1" spc="-217" kern="0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cresceu. </a:t>
            </a:r>
            <a:pPr algn="l" indent="0" marL="0">
              <a:lnSpc>
                <a:spcPct val="102000"/>
              </a:lnSpc>
              <a:buNone/>
            </a:pPr>
            <a:r>
              <a:rPr lang="en-US" sz="8700" b="1" spc="-217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É hora da arquitetura </a:t>
            </a:r>
            <a:pPr algn="l" indent="0" marL="0">
              <a:lnSpc>
                <a:spcPct val="102000"/>
              </a:lnSpc>
              <a:buNone/>
            </a:pPr>
            <a:r>
              <a:rPr lang="en-US" sz="8700" b="1" spc="-217" kern="0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crescer junto.</a:t>
            </a:r>
            <a:endParaRPr lang="en-US" sz="8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52500"/>
            <a:ext cx="454670" cy="342900"/>
          </a:xfrm>
          <a:prstGeom prst="ellipse">
            <a:avLst/>
          </a:prstGeom>
          <a:ln w="19050">
            <a:solidFill>
              <a:srgbClr val="FF6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8250" y="1009650"/>
            <a:ext cx="2641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750070" y="1000125"/>
            <a:ext cx="444273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6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PROMESSA DESTA CONVERSA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00200"/>
            <a:ext cx="14716125" cy="870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300" b="1" spc="-126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Três partes, uma decisão.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1143000" y="2698998"/>
            <a:ext cx="1275397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Diagnóstico do hoje, desenho do amanhã, e o caminho controlado entre os dois.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143000" y="3582888"/>
            <a:ext cx="5130701" cy="43815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E6E6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43050" y="4021038"/>
            <a:ext cx="4460519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1543050" y="5511850"/>
            <a:ext cx="4460519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300" b="1" spc="-49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Onde estamos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543050" y="6528197"/>
            <a:ext cx="4460519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arquitetura atual e suas dores. Por que sustentação está consumindo o tempo de evolução.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78501" y="3582888"/>
            <a:ext cx="5130850" cy="43815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E6E6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78551" y="4021038"/>
            <a:ext cx="446067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6978551" y="5511850"/>
            <a:ext cx="4460672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300" b="1" spc="-49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Para onde vamos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6978551" y="6528197"/>
            <a:ext cx="4460672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nova arquitetura em dois pilares: orquestrador único e camada de convivência.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014150" y="3582888"/>
            <a:ext cx="5130850" cy="43815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E6E6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414200" y="4021038"/>
            <a:ext cx="4460672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12414200" y="5671840"/>
            <a:ext cx="4460672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300" b="1" spc="-49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Como chegamos lá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12414200" y="6848177"/>
            <a:ext cx="4460672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Migração consumidor a consumidor, e AI como acelerador da entrega.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9705975"/>
            <a:ext cx="16554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27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Custódia de Ativos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248924" y="9705975"/>
            <a:ext cx="84623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6545520" y="9705975"/>
            <a:ext cx="67568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14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52500"/>
            <a:ext cx="481757" cy="342900"/>
          </a:xfrm>
          <a:prstGeom prst="roundRect">
            <a:avLst>
              <a:gd name="adj" fmla="val 50000"/>
            </a:avLst>
          </a:prstGeom>
          <a:ln w="19050">
            <a:solidFill>
              <a:srgbClr val="FF6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8250" y="1009650"/>
            <a:ext cx="29125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777157" y="1000125"/>
            <a:ext cx="311200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6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FAZEMOS HOJE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1143000" y="1600200"/>
            <a:ext cx="838200" cy="57150"/>
          </a:xfrm>
          <a:prstGeom prst="roundRect">
            <a:avLst>
              <a:gd name="adj" fmla="val 50000"/>
            </a:avLst>
          </a:prstGeom>
          <a:solidFill>
            <a:srgbClr val="FF620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962150"/>
            <a:ext cx="14716125" cy="1702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300" b="1" spc="-126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Pós-Venda é o motor de manutenção das operações de crédito.</a:t>
            </a:r>
            <a:endParaRPr lang="en-US" sz="6300" dirty="0"/>
          </a:p>
        </p:txBody>
      </p:sp>
      <p:sp>
        <p:nvSpPr>
          <p:cNvPr id="7" name="Text 5"/>
          <p:cNvSpPr/>
          <p:nvPr/>
        </p:nvSpPr>
        <p:spPr>
          <a:xfrm>
            <a:off x="1143000" y="3893046"/>
            <a:ext cx="1275397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 que acontece com o produto depois que o cliente já contratou.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3000" y="4624536"/>
            <a:ext cx="2007543" cy="581025"/>
          </a:xfrm>
          <a:prstGeom prst="roundRect">
            <a:avLst>
              <a:gd name="adj" fmla="val 50000"/>
            </a:avLst>
          </a:prstGeom>
          <a:solidFill>
            <a:srgbClr val="FF6200"/>
          </a:solidFill>
          <a:ln w="19050">
            <a:solidFill>
              <a:srgbClr val="FF62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28750" y="4776936"/>
            <a:ext cx="151224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Amortização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02943" y="4624536"/>
            <a:ext cx="1797546" cy="581025"/>
          </a:xfrm>
          <a:prstGeom prst="roundRect">
            <a:avLst>
              <a:gd name="adj" fmla="val 50000"/>
            </a:avLst>
          </a:prstGeom>
          <a:ln w="19050">
            <a:solidFill>
              <a:srgbClr val="CFCF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8693" y="4776936"/>
            <a:ext cx="130224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Liquidação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252889" y="4624536"/>
            <a:ext cx="2189857" cy="581025"/>
          </a:xfrm>
          <a:prstGeom prst="roundRect">
            <a:avLst>
              <a:gd name="adj" fmla="val 50000"/>
            </a:avLst>
          </a:prstGeom>
          <a:ln w="19050">
            <a:solidFill>
              <a:srgbClr val="CFCF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8639" y="4776936"/>
            <a:ext cx="169455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Cancelamento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595146" y="4624536"/>
            <a:ext cx="3235077" cy="581025"/>
          </a:xfrm>
          <a:prstGeom prst="roundRect">
            <a:avLst>
              <a:gd name="adj" fmla="val 50000"/>
            </a:avLst>
          </a:prstGeom>
          <a:ln w="19050">
            <a:solidFill>
              <a:srgbClr val="CFCF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80896" y="4776936"/>
            <a:ext cx="276062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Estorno de recebimento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982623" y="4624536"/>
            <a:ext cx="4034879" cy="581025"/>
          </a:xfrm>
          <a:prstGeom prst="roundRect">
            <a:avLst>
              <a:gd name="adj" fmla="val 50000"/>
            </a:avLst>
          </a:prstGeom>
          <a:ln w="19050">
            <a:solidFill>
              <a:srgbClr val="CFCF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268373" y="4776936"/>
            <a:ext cx="358442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Alteração de meio de cobrança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43000" y="5738961"/>
            <a:ext cx="16002000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6139011"/>
            <a:ext cx="274701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2021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1143000" y="7129611"/>
            <a:ext cx="274701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PRODUÇÃO DESDE O FINAL DE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4572000" y="6139011"/>
            <a:ext cx="274701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15K</a:t>
            </a:r>
            <a:endParaRPr lang="en-US" sz="7200" dirty="0"/>
          </a:p>
        </p:txBody>
      </p:sp>
      <p:sp>
        <p:nvSpPr>
          <p:cNvPr id="22" name="Text 20"/>
          <p:cNvSpPr/>
          <p:nvPr/>
        </p:nvSpPr>
        <p:spPr>
          <a:xfrm>
            <a:off x="4572000" y="7129611"/>
            <a:ext cx="274701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SOLICITAÇÕES POR DIA EM MÉDIA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001000" y="6139011"/>
            <a:ext cx="274701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216" kern="0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150×</a:t>
            </a:r>
            <a:endParaRPr lang="en-US" sz="7200" dirty="0"/>
          </a:p>
        </p:txBody>
      </p:sp>
      <p:sp>
        <p:nvSpPr>
          <p:cNvPr id="24" name="Text 22"/>
          <p:cNvSpPr/>
          <p:nvPr/>
        </p:nvSpPr>
        <p:spPr>
          <a:xfrm>
            <a:off x="8001000" y="7129611"/>
            <a:ext cx="2747010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98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CRESCIMENTO DESDE O LANÇAMENTO (DE 100/DIA)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143000" y="9705975"/>
            <a:ext cx="16554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27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Custódia de Ativos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903196" y="9705975"/>
            <a:ext cx="153635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ONDE ESTAMOS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6544181" y="9705975"/>
            <a:ext cx="6770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14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52500"/>
            <a:ext cx="479227" cy="342900"/>
          </a:xfrm>
          <a:prstGeom prst="roundRect">
            <a:avLst>
              <a:gd name="adj" fmla="val 50000"/>
            </a:avLst>
          </a:prstGeom>
          <a:ln w="19050">
            <a:solidFill>
              <a:srgbClr val="FF6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8250" y="1009650"/>
            <a:ext cx="28872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774627" y="1000125"/>
            <a:ext cx="324122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6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FUNCIONA HOJE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00200"/>
            <a:ext cx="14716125" cy="684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800" b="1" spc="-72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Cliente recebe um identificador. E aguarda.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43000" y="2512963"/>
            <a:ext cx="1275397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workflow sequencial de fases assíncronas — máquina de estados rodando em background.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143000" y="5410349"/>
            <a:ext cx="2095500" cy="1114425"/>
          </a:xfrm>
          <a:prstGeom prst="roundRect">
            <a:avLst>
              <a:gd name="adj" fmla="val 13675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90650" y="5657999"/>
            <a:ext cx="16002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62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ORIGEM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90650" y="5934224"/>
            <a:ext cx="1600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Cliente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3543300" y="5291286"/>
            <a:ext cx="11201400" cy="1352550"/>
          </a:xfrm>
          <a:prstGeom prst="roundRect">
            <a:avLst>
              <a:gd name="adj" fmla="val 14085"/>
            </a:avLst>
          </a:prstGeom>
          <a:solidFill>
            <a:srgbClr val="FAFAFA"/>
          </a:solidFill>
          <a:ln w="19050">
            <a:solidFill>
              <a:srgbClr val="FF62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67150" y="5157936"/>
            <a:ext cx="5422553" cy="2000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019550" y="5157936"/>
            <a:ext cx="52804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62" kern="0" dirty="0">
                <a:solidFill>
                  <a:srgbClr val="FF6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MÁQUINA DE ESTADOS · WORKFLOW SEQUENCIAL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867150" y="5615136"/>
            <a:ext cx="186690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9050">
            <a:solidFill>
              <a:srgbClr val="CFCFCF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3924300" y="5824686"/>
            <a:ext cx="1752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D3D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Validação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695950" y="5815161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3D3D3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›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038850" y="5615136"/>
            <a:ext cx="186690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9050">
            <a:solidFill>
              <a:srgbClr val="CFCFCF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096000" y="5824686"/>
            <a:ext cx="1752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D3D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Pagamento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867650" y="5815161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3D3D3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›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8210550" y="5615136"/>
            <a:ext cx="186690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9050">
            <a:solidFill>
              <a:srgbClr val="CFCFCF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8267700" y="5824686"/>
            <a:ext cx="1752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D3D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Efetivação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0039350" y="5815161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3D3D3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›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0382250" y="5615136"/>
            <a:ext cx="186690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9050">
            <a:solidFill>
              <a:srgbClr val="CFCFCF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10439400" y="5824686"/>
            <a:ext cx="1752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D3D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Comprovante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2211050" y="5815161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3D3D3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›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2553950" y="5615136"/>
            <a:ext cx="1866900" cy="704850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9050">
            <a:solidFill>
              <a:srgbClr val="CFCFCF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2611100" y="5824686"/>
            <a:ext cx="1752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D3D3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Conclusão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049500" y="5238899"/>
            <a:ext cx="2095500" cy="1457325"/>
          </a:xfrm>
          <a:prstGeom prst="roundRect">
            <a:avLst>
              <a:gd name="adj" fmla="val 10458"/>
            </a:avLst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297150" y="5486549"/>
            <a:ext cx="16002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162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5297150" y="5762774"/>
            <a:ext cx="16002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 + aguardar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143000" y="7001024"/>
            <a:ext cx="16002000" cy="880021"/>
          </a:xfrm>
          <a:prstGeom prst="roundRect">
            <a:avLst>
              <a:gd name="adj" fmla="val 17318"/>
            </a:avLst>
          </a:prstGeom>
          <a:solidFill>
            <a:srgbClr val="1A1A1A"/>
          </a:solidFill>
          <a:ln/>
        </p:spPr>
      </p:sp>
      <p:sp>
        <p:nvSpPr>
          <p:cNvPr id="31" name="Shape 29"/>
          <p:cNvSpPr/>
          <p:nvPr/>
        </p:nvSpPr>
        <p:spPr>
          <a:xfrm>
            <a:off x="1485900" y="7272486"/>
            <a:ext cx="1751558" cy="337096"/>
          </a:xfrm>
          <a:prstGeom prst="roundRect">
            <a:avLst>
              <a:gd name="adj" fmla="val 50000"/>
            </a:avLst>
          </a:prstGeom>
          <a:solidFill>
            <a:srgbClr val="FF6200"/>
          </a:solidFill>
          <a:ln/>
        </p:spPr>
      </p:sp>
      <p:sp>
        <p:nvSpPr>
          <p:cNvPr id="32" name="Text 30"/>
          <p:cNvSpPr/>
          <p:nvPr/>
        </p:nvSpPr>
        <p:spPr>
          <a:xfrm>
            <a:off x="1657350" y="7329636"/>
            <a:ext cx="1484858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spc="16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CAIXA-PRETA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466058" y="7267724"/>
            <a:ext cx="9195892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 envio ao resultado, ninguém vê nada — nem o cliente, nem a gente.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1143000" y="9705975"/>
            <a:ext cx="16554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27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Custódia de Ativos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900666" y="9705975"/>
            <a:ext cx="153635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ONDE ESTAMOS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6539270" y="9705975"/>
            <a:ext cx="68193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14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52500"/>
            <a:ext cx="483989" cy="342900"/>
          </a:xfrm>
          <a:prstGeom prst="roundRect">
            <a:avLst>
              <a:gd name="adj" fmla="val 50000"/>
            </a:avLst>
          </a:prstGeom>
          <a:ln w="19050">
            <a:solidFill>
              <a:srgbClr val="FF6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8250" y="1009650"/>
            <a:ext cx="29348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779389" y="1000125"/>
            <a:ext cx="387478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6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HISTÓRIA QUE SE REPETE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00200"/>
            <a:ext cx="14716125" cy="684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800" b="1" spc="-72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Uma manhã de quarta-feira qualquer.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905000" y="4342507"/>
            <a:ext cx="2171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08h00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4457700" y="4494907"/>
            <a:ext cx="13067919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 solicita amortização. </a:t>
            </a:r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responde com identificador. </a:t>
            </a:r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"Aguarde."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905000" y="5371207"/>
            <a:ext cx="2171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08h01 → ?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4457700" y="5523607"/>
            <a:ext cx="13067919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trava em alguma fase. </a:t>
            </a:r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evento. Sem alerta. Sem ninguém saber.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905000" y="6399907"/>
            <a:ext cx="2171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08h50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4457700" y="6552307"/>
            <a:ext cx="13067919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Gerente da agência liga reclamando. </a:t>
            </a:r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Chamado é aberto. Chega na squad.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905000" y="7428607"/>
            <a:ext cx="2171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 horas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4457700" y="7581007"/>
            <a:ext cx="13067919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Garimpo log a log. </a:t>
            </a:r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Cinco serviços, mesh, fila — até descobrir o ponto travado. </a:t>
            </a:r>
            <a:pPr algn="l" indent="0" marL="0">
              <a:lnSpc>
                <a:spcPct val="135000"/>
              </a:lnSpc>
              <a:buNone/>
            </a:pPr>
            <a:r>
              <a:rPr lang="en-US" sz="225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MTTR sobe.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143000" y="9705975"/>
            <a:ext cx="16554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27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Custódia de Ativos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905280" y="9705975"/>
            <a:ext cx="153635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ONDE ESTAMOS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6548348" y="9705975"/>
            <a:ext cx="67285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14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52500"/>
            <a:ext cx="480120" cy="342900"/>
          </a:xfrm>
          <a:prstGeom prst="roundRect">
            <a:avLst>
              <a:gd name="adj" fmla="val 50000"/>
            </a:avLst>
          </a:prstGeom>
          <a:ln w="19050">
            <a:solidFill>
              <a:srgbClr val="FF6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8250" y="1009650"/>
            <a:ext cx="2896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775520" y="1000125"/>
            <a:ext cx="295334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6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TRÊS DORES RAIZ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00200"/>
            <a:ext cx="14716125" cy="684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800" b="1" spc="-72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Toda a dor cabe em três caixas.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143000" y="2741563"/>
            <a:ext cx="5130701" cy="5688062"/>
          </a:xfrm>
          <a:prstGeom prst="roundRect">
            <a:avLst>
              <a:gd name="adj" fmla="val 3713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8410575"/>
            <a:ext cx="5130701" cy="1905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2741563"/>
            <a:ext cx="5130701" cy="7620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2741563"/>
            <a:ext cx="19050" cy="5688062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10" name="Shape 8"/>
          <p:cNvSpPr/>
          <p:nvPr/>
        </p:nvSpPr>
        <p:spPr>
          <a:xfrm>
            <a:off x="6254651" y="2741563"/>
            <a:ext cx="19050" cy="5688062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11" name="Text 9"/>
          <p:cNvSpPr/>
          <p:nvPr/>
        </p:nvSpPr>
        <p:spPr>
          <a:xfrm>
            <a:off x="1504950" y="3198763"/>
            <a:ext cx="45390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FF6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DOR 01 · EXPERIÊNCIA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504950" y="3589288"/>
            <a:ext cx="4539005" cy="91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300" b="1" spc="-49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cliente precisa adivinhar.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344930" y="4735860"/>
            <a:ext cx="4643021" cy="1538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visibilidade do estado da solicitação</a:t>
            </a:r>
            <a:endParaRPr lang="en-US" sz="1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é pull — cliente faz polling</a:t>
            </a:r>
            <a:endParaRPr lang="en-US" sz="1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evento proativo de progresso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78501" y="2741563"/>
            <a:ext cx="5130850" cy="5688062"/>
          </a:xfrm>
          <a:prstGeom prst="roundRect">
            <a:avLst>
              <a:gd name="adj" fmla="val 3713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578501" y="8410575"/>
            <a:ext cx="5130850" cy="1905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16" name="Shape 14"/>
          <p:cNvSpPr/>
          <p:nvPr/>
        </p:nvSpPr>
        <p:spPr>
          <a:xfrm>
            <a:off x="6578501" y="2741563"/>
            <a:ext cx="5130850" cy="7620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17" name="Shape 15"/>
          <p:cNvSpPr/>
          <p:nvPr/>
        </p:nvSpPr>
        <p:spPr>
          <a:xfrm>
            <a:off x="6578501" y="2741563"/>
            <a:ext cx="19050" cy="5688062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18" name="Shape 16"/>
          <p:cNvSpPr/>
          <p:nvPr/>
        </p:nvSpPr>
        <p:spPr>
          <a:xfrm>
            <a:off x="11690300" y="2741563"/>
            <a:ext cx="19050" cy="5688062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19" name="Text 17"/>
          <p:cNvSpPr/>
          <p:nvPr/>
        </p:nvSpPr>
        <p:spPr>
          <a:xfrm>
            <a:off x="6940451" y="3198763"/>
            <a:ext cx="453915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FF6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DOR 02 · OPERAÇÃO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940451" y="3589288"/>
            <a:ext cx="4539158" cy="91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300" b="1" spc="-49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gente também não enxerga.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6780431" y="4735860"/>
            <a:ext cx="4643170" cy="1847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observabilidade nativa do workflow</a:t>
            </a:r>
            <a:endParaRPr lang="en-US" sz="1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timeout configurado por fase</a:t>
            </a:r>
            <a:endParaRPr lang="en-US" sz="1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detecção automática de travamento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014150" y="2741563"/>
            <a:ext cx="5130850" cy="5688062"/>
          </a:xfrm>
          <a:prstGeom prst="roundRect">
            <a:avLst>
              <a:gd name="adj" fmla="val 3713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14150" y="8410575"/>
            <a:ext cx="5130850" cy="1905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14150" y="2741563"/>
            <a:ext cx="5130850" cy="7620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25" name="Shape 23"/>
          <p:cNvSpPr/>
          <p:nvPr/>
        </p:nvSpPr>
        <p:spPr>
          <a:xfrm>
            <a:off x="12014150" y="2741563"/>
            <a:ext cx="19050" cy="5688062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26" name="Shape 24"/>
          <p:cNvSpPr/>
          <p:nvPr/>
        </p:nvSpPr>
        <p:spPr>
          <a:xfrm>
            <a:off x="17125950" y="2741563"/>
            <a:ext cx="19050" cy="5688062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27" name="Text 25"/>
          <p:cNvSpPr/>
          <p:nvPr/>
        </p:nvSpPr>
        <p:spPr>
          <a:xfrm>
            <a:off x="12376100" y="3198763"/>
            <a:ext cx="453915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FF6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DOR 03 · ARQUITETURA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2376100" y="3589288"/>
            <a:ext cx="4539158" cy="91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300" b="1" spc="-49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Seis projetos, uma só verdade fragmentada.</a:t>
            </a:r>
            <a:endParaRPr lang="en-US" sz="3300" dirty="0"/>
          </a:p>
        </p:txBody>
      </p:sp>
      <p:sp>
        <p:nvSpPr>
          <p:cNvPr id="29" name="Text 27"/>
          <p:cNvSpPr/>
          <p:nvPr/>
        </p:nvSpPr>
        <p:spPr>
          <a:xfrm>
            <a:off x="12216080" y="4735860"/>
            <a:ext cx="4643170" cy="1847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Orquestradores Java apartados por manutenção</a:t>
            </a:r>
            <a:endParaRPr lang="en-US" sz="1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 duplicado e governança difusa</a:t>
            </a:r>
            <a:endParaRPr lang="en-US" sz="18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Disfunções de domínio viraram workaround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143000" y="8696325"/>
            <a:ext cx="16002000" cy="828675"/>
          </a:xfrm>
          <a:prstGeom prst="roundRect">
            <a:avLst>
              <a:gd name="adj" fmla="val 18391"/>
            </a:avLst>
          </a:prstGeom>
          <a:solidFill>
            <a:srgbClr val="1A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1245870" y="8924925"/>
            <a:ext cx="1579626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highlight>
                  <a:srgbClr val="1A1A1A"/>
                </a:highlight>
                <a:latin typeface="Manrope" pitchFamily="34" charset="0"/>
                <a:ea typeface="Manrope" pitchFamily="34" charset="-122"/>
                <a:cs typeface="Manrope" pitchFamily="34" charset="-120"/>
              </a:rPr>
              <a:t>Hoje gastamos </a:t>
            </a:r>
            <a:pPr algn="ctr" indent="0" marL="0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mais tempo sustentando </a:t>
            </a:r>
            <a:pPr algn="ctr" indent="0" marL="0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highlight>
                  <a:srgbClr val="1A1A1A"/>
                </a:highlight>
                <a:latin typeface="Manrope" pitchFamily="34" charset="0"/>
                <a:ea typeface="Manrope" pitchFamily="34" charset="-122"/>
                <a:cs typeface="Manrope" pitchFamily="34" charset="-120"/>
              </a:rPr>
              <a:t>do que evoluindo.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1143000" y="9705975"/>
            <a:ext cx="16554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27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Custódia de Ativos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902898" y="9705975"/>
            <a:ext cx="153635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ONDE ESTAMOS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6543734" y="9705975"/>
            <a:ext cx="67746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14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52500"/>
            <a:ext cx="486073" cy="342900"/>
          </a:xfrm>
          <a:prstGeom prst="roundRect">
            <a:avLst>
              <a:gd name="adj" fmla="val 50000"/>
            </a:avLst>
          </a:prstGeom>
          <a:ln w="19050">
            <a:solidFill>
              <a:srgbClr val="FF6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8250" y="1009650"/>
            <a:ext cx="2955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781473" y="1000125"/>
            <a:ext cx="252739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6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VS DEPOIS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00200"/>
            <a:ext cx="14716125" cy="684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800" b="1" spc="-72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Mesma operação, dois mundos.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43000" y="2512963"/>
            <a:ext cx="1275397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é refatoração. É mudança de paradigma.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143000" y="3168253"/>
            <a:ext cx="16002000" cy="6356747"/>
          </a:xfrm>
          <a:prstGeom prst="roundRect">
            <a:avLst>
              <a:gd name="adj" fmla="val 2997"/>
            </a:avLst>
          </a:prstGeom>
          <a:ln w="19050">
            <a:solidFill>
              <a:srgbClr val="E6E6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2050" y="3187303"/>
            <a:ext cx="7981950" cy="63186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581150" y="3568303"/>
            <a:ext cx="735806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407795" y="4073128"/>
            <a:ext cx="7393305" cy="2395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 faz polling para saber o status</a:t>
            </a:r>
            <a:endParaRPr lang="en-US" sz="19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trava em silêncio</a:t>
            </a:r>
            <a:endParaRPr lang="en-US" sz="19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projetos com código duplicado</a:t>
            </a:r>
            <a:endParaRPr lang="en-US" sz="19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Disfunção de domínio é workaround</a:t>
            </a:r>
            <a:endParaRPr lang="en-US" sz="19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Sustentação consome a evolução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144000" y="3187303"/>
            <a:ext cx="7981950" cy="6318647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12" name="Text 10"/>
          <p:cNvSpPr/>
          <p:nvPr/>
        </p:nvSpPr>
        <p:spPr>
          <a:xfrm>
            <a:off x="9563100" y="3568303"/>
            <a:ext cx="735806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DEPOIS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389745" y="4073128"/>
            <a:ext cx="7393305" cy="2395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 recebe evento a cada fase</a:t>
            </a:r>
            <a:endParaRPr lang="en-US" sz="19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Stuck detection + timeout por fase</a:t>
            </a:r>
            <a:endParaRPr lang="en-US" sz="19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Orquestrador único, regras centralizadas</a:t>
            </a:r>
            <a:endParaRPr lang="en-US" sz="19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responsabilidade no dono certo</a:t>
            </a:r>
            <a:endParaRPr lang="en-US" sz="19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volta a investir em produto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43000" y="9705975"/>
            <a:ext cx="16554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27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Custódia de Ativos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745885" y="9705975"/>
            <a:ext cx="186317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ONDE VAMOS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6556385" y="9705975"/>
            <a:ext cx="6648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14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52500"/>
            <a:ext cx="471041" cy="342900"/>
          </a:xfrm>
          <a:prstGeom prst="roundRect">
            <a:avLst>
              <a:gd name="adj" fmla="val 50000"/>
            </a:avLst>
          </a:prstGeom>
          <a:ln w="19050">
            <a:solidFill>
              <a:srgbClr val="FF6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8250" y="1009650"/>
            <a:ext cx="28054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766441" y="1000125"/>
            <a:ext cx="505851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6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PRINCÍPIOS DA NOVA ARQUITETURA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00200"/>
            <a:ext cx="14716125" cy="684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800" b="1" spc="-72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Três princípios. Sem mais.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143000" y="2817763"/>
            <a:ext cx="5156150" cy="6707237"/>
          </a:xfrm>
          <a:prstGeom prst="roundRect">
            <a:avLst>
              <a:gd name="adj" fmla="val 3695"/>
            </a:avLst>
          </a:prstGeom>
          <a:ln w="19050">
            <a:solidFill>
              <a:srgbClr val="E6E6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43050" y="3294013"/>
            <a:ext cx="4486732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spc="-180" kern="0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543050" y="4284613"/>
            <a:ext cx="4486732" cy="41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50" b="1" spc="-43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Orientado a eventos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543050" y="4893171"/>
            <a:ext cx="4486732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fase publica estado. Qualquer consumidor se inscreve. Polling vira passado.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565850" y="2817763"/>
            <a:ext cx="5156150" cy="6707237"/>
          </a:xfrm>
          <a:prstGeom prst="roundRect">
            <a:avLst>
              <a:gd name="adj" fmla="val 3695"/>
            </a:avLst>
          </a:prstGeom>
          <a:ln w="19050">
            <a:solidFill>
              <a:srgbClr val="E6E6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65900" y="3294013"/>
            <a:ext cx="4486732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spc="-180" kern="0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6965900" y="4284613"/>
            <a:ext cx="4486732" cy="41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50" b="1" spc="-43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Observável por design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6965900" y="4893171"/>
            <a:ext cx="4486732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Travamento, latência e falha viram alerta antes de o cliente reclamar — não plugin no fim.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1988701" y="2817763"/>
            <a:ext cx="5156150" cy="6707237"/>
          </a:xfrm>
          <a:prstGeom prst="roundRect">
            <a:avLst>
              <a:gd name="adj" fmla="val 3695"/>
            </a:avLst>
          </a:prstGeom>
          <a:ln w="19050">
            <a:solidFill>
              <a:srgbClr val="E6E6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88751" y="3294013"/>
            <a:ext cx="4486732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spc="-180" kern="0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12388751" y="4284613"/>
            <a:ext cx="4486732" cy="41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50" b="1" spc="-43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Evolutivo sem quebrar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2388751" y="4893171"/>
            <a:ext cx="4486732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arquitetura nova convive com a antiga. Quem consome hoje não é forçado a mudar amanhã.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143000" y="9705975"/>
            <a:ext cx="16554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27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Custódia de Ativos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739634" y="9705975"/>
            <a:ext cx="186317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ONDE VAMOS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6544032" y="9705975"/>
            <a:ext cx="67716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14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52500"/>
            <a:ext cx="484584" cy="342900"/>
          </a:xfrm>
          <a:prstGeom prst="roundRect">
            <a:avLst>
              <a:gd name="adj" fmla="val 50000"/>
            </a:avLst>
          </a:prstGeom>
          <a:ln w="19050">
            <a:solidFill>
              <a:srgbClr val="FF6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8250" y="1009650"/>
            <a:ext cx="29408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779984" y="1000125"/>
            <a:ext cx="40792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6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SOLUÇÃO EM UMA IMAGEM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00200"/>
            <a:ext cx="14716125" cy="684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800" b="1" spc="-72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Dois blocos centrais. Uma arquitetura.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143000" y="4266307"/>
            <a:ext cx="190500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FCF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14450" y="4456807"/>
            <a:ext cx="1562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CONSUMIDORES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619101" y="4675882"/>
            <a:ext cx="10289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Mobile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143000" y="5218807"/>
            <a:ext cx="190500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FCF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14450" y="5409307"/>
            <a:ext cx="1562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CONSUMIDORES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404342" y="5628382"/>
            <a:ext cx="145836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Internet Banking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143000" y="6171307"/>
            <a:ext cx="190500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FCF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14450" y="6361807"/>
            <a:ext cx="1562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CONSUMIDORES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03338" y="6580882"/>
            <a:ext cx="8603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Agências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143000" y="7123807"/>
            <a:ext cx="190500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FCF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14450" y="7314307"/>
            <a:ext cx="1562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CONSUMIDORES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19089" y="7533382"/>
            <a:ext cx="122902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Finance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352800" y="4159746"/>
            <a:ext cx="11582400" cy="1849636"/>
          </a:xfrm>
          <a:prstGeom prst="roundRect">
            <a:avLst>
              <a:gd name="adj" fmla="val 10299"/>
            </a:avLst>
          </a:prstGeom>
          <a:solidFill>
            <a:srgbClr val="FFFFFF"/>
          </a:solidFill>
          <a:ln w="28575">
            <a:solidFill>
              <a:srgbClr val="FF620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3561683" y="4569321"/>
            <a:ext cx="1116463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spc="216" kern="0" dirty="0">
                <a:solidFill>
                  <a:srgbClr val="FF6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BORDA — ENTRADA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1683" y="4836021"/>
            <a:ext cx="11164634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300" b="1" spc="-49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Camada de Convivência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3561683" y="5371207"/>
            <a:ext cx="1116463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Mantém os contratos antigos vivos · traduz · redireciona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352800" y="6237982"/>
            <a:ext cx="11582400" cy="1792486"/>
          </a:xfrm>
          <a:prstGeom prst="roundRect">
            <a:avLst>
              <a:gd name="adj" fmla="val 10628"/>
            </a:avLst>
          </a:prstGeom>
          <a:solidFill>
            <a:srgbClr val="FF6200"/>
          </a:solidFill>
          <a:ln/>
          <a:effectLst>
            <a:outerShdw sx="100000" sy="100000" kx="0" ky="0" algn="bl" rotWithShape="0" blurRad="304800" dist="114300" dir="5400000">
              <a:srgbClr val="FF62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532251" y="6618982"/>
            <a:ext cx="1122349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spc="216" kern="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CORAÇÃO — COORDENAÇÃO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32251" y="6885682"/>
            <a:ext cx="11223498" cy="4780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300" b="1" spc="-49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Orquestrador</a:t>
            </a:r>
            <a:endParaRPr lang="en-US" sz="3300" dirty="0"/>
          </a:p>
        </p:txBody>
      </p:sp>
      <p:sp>
        <p:nvSpPr>
          <p:cNvPr id="25" name="Text 23"/>
          <p:cNvSpPr/>
          <p:nvPr/>
        </p:nvSpPr>
        <p:spPr>
          <a:xfrm>
            <a:off x="3532251" y="7420868"/>
            <a:ext cx="1122349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Máquina de estados unificada · workflows · eventos por fase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5240000" y="4266307"/>
            <a:ext cx="190500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FCF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411450" y="4456807"/>
            <a:ext cx="1562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DOMÍNIOS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5625018" y="4675882"/>
            <a:ext cx="121116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Comprovante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5240000" y="5218807"/>
            <a:ext cx="190500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FCFC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411450" y="5409307"/>
            <a:ext cx="1562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DOMÍNIOS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5718482" y="5628382"/>
            <a:ext cx="102408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Pagamento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15240000" y="6171307"/>
            <a:ext cx="190500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FCF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411450" y="6361807"/>
            <a:ext cx="1562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DOMÍNIOS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5548967" y="6580882"/>
            <a:ext cx="136326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Envio de E-mail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15240000" y="7123807"/>
            <a:ext cx="190500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FCF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411450" y="7314307"/>
            <a:ext cx="15621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spc="147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DOMÍNIOS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5789027" y="7533382"/>
            <a:ext cx="88299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Garantias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1143000" y="9705975"/>
            <a:ext cx="16554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27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Custódia de Ativos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8739485" y="9705975"/>
            <a:ext cx="186317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ONDE VAMOS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6543734" y="9705975"/>
            <a:ext cx="67746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14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52500"/>
            <a:ext cx="486073" cy="342900"/>
          </a:xfrm>
          <a:prstGeom prst="roundRect">
            <a:avLst>
              <a:gd name="adj" fmla="val 50000"/>
            </a:avLst>
          </a:prstGeom>
          <a:ln w="19050">
            <a:solidFill>
              <a:srgbClr val="FF6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8250" y="1009650"/>
            <a:ext cx="2955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09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781473" y="1000125"/>
            <a:ext cx="375782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6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PILAR 1 — ORQUESTRADOR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00200"/>
            <a:ext cx="14716125" cy="684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800" b="1" spc="-72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Um workflow, um lugar, uma verdade.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143000" y="3714452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F6200"/>
          </a:solidFill>
          <a:ln/>
        </p:spPr>
      </p:sp>
      <p:sp>
        <p:nvSpPr>
          <p:cNvPr id="7" name="Text 5"/>
          <p:cNvSpPr/>
          <p:nvPr/>
        </p:nvSpPr>
        <p:spPr>
          <a:xfrm>
            <a:off x="1104900" y="3714452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905000" y="3790652"/>
            <a:ext cx="7255050" cy="1157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Máquina de estados unificada.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Substitui os 6 projetos Java apartados por um componente único e parametrizável.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143000" y="517713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F6200"/>
          </a:solidFill>
          <a:ln/>
        </p:spPr>
      </p:sp>
      <p:sp>
        <p:nvSpPr>
          <p:cNvPr id="10" name="Text 8"/>
          <p:cNvSpPr/>
          <p:nvPr/>
        </p:nvSpPr>
        <p:spPr>
          <a:xfrm>
            <a:off x="1104900" y="517713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905000" y="5253335"/>
            <a:ext cx="7255050" cy="1157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Workflows declarativos.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Amortização, cancelamento, estorno, etc — todos descrevem suas fases no mesmo motor.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143000" y="6639818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F6200"/>
          </a:solidFill>
          <a:ln/>
        </p:spPr>
      </p:sp>
      <p:sp>
        <p:nvSpPr>
          <p:cNvPr id="13" name="Text 11"/>
          <p:cNvSpPr/>
          <p:nvPr/>
        </p:nvSpPr>
        <p:spPr>
          <a:xfrm>
            <a:off x="1104900" y="6639818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905000" y="6716018"/>
            <a:ext cx="7255050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fase publica evento.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 recebe notificação proativa. A gente ganha rastro completo.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143000" y="772924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F6200"/>
          </a:solidFill>
          <a:ln/>
        </p:spPr>
      </p:sp>
      <p:sp>
        <p:nvSpPr>
          <p:cNvPr id="16" name="Text 14"/>
          <p:cNvSpPr/>
          <p:nvPr/>
        </p:nvSpPr>
        <p:spPr>
          <a:xfrm>
            <a:off x="1104900" y="772924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905000" y="7805440"/>
            <a:ext cx="7255050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orquestrador coordena, não invade.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responsabilidade volta para o domínio dono.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710738" y="2741563"/>
            <a:ext cx="7434114" cy="6783437"/>
          </a:xfrm>
          <a:prstGeom prst="roundRect">
            <a:avLst>
              <a:gd name="adj" fmla="val 3370"/>
            </a:avLst>
          </a:prstGeom>
          <a:solidFill>
            <a:srgbClr val="FFF1E6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7938" y="4034879"/>
            <a:ext cx="67153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FF6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DECLARATIVO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167938" y="4501604"/>
            <a:ext cx="6715305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Amortização antecipada</a:t>
            </a:r>
            <a:endParaRPr lang="en-US" sz="2700" dirty="0"/>
          </a:p>
        </p:txBody>
      </p:sp>
      <p:sp>
        <p:nvSpPr>
          <p:cNvPr id="21" name="Shape 19"/>
          <p:cNvSpPr/>
          <p:nvPr/>
        </p:nvSpPr>
        <p:spPr>
          <a:xfrm>
            <a:off x="10167938" y="5221635"/>
            <a:ext cx="6519714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387013" y="540261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F6200"/>
          </a:solidFill>
          <a:ln/>
        </p:spPr>
      </p:sp>
      <p:sp>
        <p:nvSpPr>
          <p:cNvPr id="23" name="Text 21"/>
          <p:cNvSpPr/>
          <p:nvPr/>
        </p:nvSpPr>
        <p:spPr>
          <a:xfrm>
            <a:off x="10348913" y="540261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844213" y="5431185"/>
            <a:ext cx="215294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Validar elegibilidade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5488989" y="5459760"/>
            <a:ext cx="105578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FF6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EVENTO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167938" y="6002685"/>
            <a:ext cx="6519714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387013" y="618366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F6200"/>
          </a:solidFill>
          <a:ln/>
        </p:spPr>
      </p:sp>
      <p:sp>
        <p:nvSpPr>
          <p:cNvPr id="28" name="Text 26"/>
          <p:cNvSpPr/>
          <p:nvPr/>
        </p:nvSpPr>
        <p:spPr>
          <a:xfrm>
            <a:off x="10348913" y="618366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0844213" y="6212235"/>
            <a:ext cx="259511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Efetivar baixa de parcela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5488989" y="6240810"/>
            <a:ext cx="105578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FF6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EVENTO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167938" y="6783735"/>
            <a:ext cx="6519714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87013" y="696471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F6200"/>
          </a:solidFill>
          <a:ln/>
        </p:spPr>
      </p:sp>
      <p:sp>
        <p:nvSpPr>
          <p:cNvPr id="33" name="Text 31"/>
          <p:cNvSpPr/>
          <p:nvPr/>
        </p:nvSpPr>
        <p:spPr>
          <a:xfrm>
            <a:off x="10348913" y="696471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0844213" y="6993285"/>
            <a:ext cx="205278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Gerar comprovante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5488989" y="7021860"/>
            <a:ext cx="105578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FF6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EVENTO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167938" y="7564785"/>
            <a:ext cx="6519714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6E6E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387013" y="774576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FF6200"/>
          </a:solidFill>
          <a:ln/>
        </p:spPr>
      </p:sp>
      <p:sp>
        <p:nvSpPr>
          <p:cNvPr id="38" name="Text 36"/>
          <p:cNvSpPr/>
          <p:nvPr/>
        </p:nvSpPr>
        <p:spPr>
          <a:xfrm>
            <a:off x="10348913" y="774576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0844213" y="7774335"/>
            <a:ext cx="21069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Concluir solicitação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5488989" y="7802910"/>
            <a:ext cx="105578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FF6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EVENTO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43000" y="9705975"/>
            <a:ext cx="16554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27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Custódia de Ativos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8757791" y="9705975"/>
            <a:ext cx="186317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ONDE VAMOS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6580346" y="9705975"/>
            <a:ext cx="6408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14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52500"/>
            <a:ext cx="454670" cy="342900"/>
          </a:xfrm>
          <a:prstGeom prst="ellipse">
            <a:avLst/>
          </a:prstGeom>
          <a:ln w="19050">
            <a:solidFill>
              <a:srgbClr val="FF6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8250" y="1009650"/>
            <a:ext cx="2641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750070" y="1000125"/>
            <a:ext cx="5259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6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PILAR 2 — CAMADA DE CONVIVÊNCIA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00200"/>
            <a:ext cx="14716125" cy="684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800" b="1" spc="-72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Evoluímos sem quebrar quem depende da gente.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143000" y="4087713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F6200"/>
          </a:solidFill>
          <a:ln/>
        </p:spPr>
      </p:sp>
      <p:sp>
        <p:nvSpPr>
          <p:cNvPr id="7" name="Text 5"/>
          <p:cNvSpPr/>
          <p:nvPr/>
        </p:nvSpPr>
        <p:spPr>
          <a:xfrm>
            <a:off x="1104900" y="4087713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905000" y="4163913"/>
            <a:ext cx="7255050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Mantém os contratos antigos vivos.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Mesmo endpoint, mesmo payload, mesma resposta para quem chama.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143000" y="517713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F6200"/>
          </a:solidFill>
          <a:ln/>
        </p:spPr>
      </p:sp>
      <p:sp>
        <p:nvSpPr>
          <p:cNvPr id="10" name="Text 8"/>
          <p:cNvSpPr/>
          <p:nvPr/>
        </p:nvSpPr>
        <p:spPr>
          <a:xfrm>
            <a:off x="1104900" y="517713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905000" y="5253335"/>
            <a:ext cx="7255050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Redireciona o tráfego para o novo.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baixo, o processamento já roda no orquestrador.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143000" y="6266557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F6200"/>
          </a:solidFill>
          <a:ln/>
        </p:spPr>
      </p:sp>
      <p:sp>
        <p:nvSpPr>
          <p:cNvPr id="13" name="Text 11"/>
          <p:cNvSpPr/>
          <p:nvPr/>
        </p:nvSpPr>
        <p:spPr>
          <a:xfrm>
            <a:off x="1104900" y="6266557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905000" y="6342757"/>
            <a:ext cx="7255050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Rollout gradual por consumidor.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Liga um, observa, liga o próximo. Sem janela coordenada.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143000" y="7355979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F6200"/>
          </a:solidFill>
          <a:ln/>
        </p:spPr>
      </p:sp>
      <p:sp>
        <p:nvSpPr>
          <p:cNvPr id="16" name="Text 14"/>
          <p:cNvSpPr/>
          <p:nvPr/>
        </p:nvSpPr>
        <p:spPr>
          <a:xfrm>
            <a:off x="1104900" y="7355979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905000" y="7432179"/>
            <a:ext cx="7255050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Desligamento transparente do legado.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o último consumidor migrar, o antigo sai. Sem big bang.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710738" y="2741563"/>
            <a:ext cx="7434114" cy="6783437"/>
          </a:xfrm>
          <a:prstGeom prst="roundRect">
            <a:avLst>
              <a:gd name="adj" fmla="val 3370"/>
            </a:avLst>
          </a:prstGeom>
          <a:solidFill>
            <a:srgbClr val="1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7938" y="4413052"/>
            <a:ext cx="67153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FF6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O CONSUMIDOR ENXERGA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0167938" y="4841677"/>
            <a:ext cx="6519714" cy="790575"/>
          </a:xfrm>
          <a:prstGeom prst="roundRect">
            <a:avLst>
              <a:gd name="adj" fmla="val 1686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06063" y="5079802"/>
            <a:ext cx="130031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 Mobile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781193" y="5156002"/>
            <a:ext cx="271098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spc="168" kern="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/AMORTIZACAO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4643199" y="5079802"/>
            <a:ext cx="188252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Endpoint legado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70142" y="5860852"/>
            <a:ext cx="67153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spc="243" kern="0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 POR BAIXO, A CONVIVÊNCIA REDIRECIONA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0167938" y="6289477"/>
            <a:ext cx="2821632" cy="1057275"/>
          </a:xfrm>
          <a:prstGeom prst="roundRect">
            <a:avLst>
              <a:gd name="adj" fmla="val 12613"/>
            </a:avLst>
          </a:prstGeom>
          <a:solidFill>
            <a:srgbClr val="FF6200">
              <a:alpha val="15000"/>
            </a:srgbClr>
          </a:solidFill>
          <a:ln w="19050">
            <a:solidFill>
              <a:srgbClr val="FF62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77488" y="6537127"/>
            <a:ext cx="240253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147" kern="0" dirty="0">
                <a:solidFill>
                  <a:srgbClr val="FF6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377488" y="6756202"/>
            <a:ext cx="240253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Orquestrador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3103870" y="6289477"/>
            <a:ext cx="647700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>
                    <a:alpha val="40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||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3865870" y="6289477"/>
            <a:ext cx="2821781" cy="1057275"/>
          </a:xfrm>
          <a:prstGeom prst="roundRect">
            <a:avLst>
              <a:gd name="adj" fmla="val 12613"/>
            </a:avLst>
          </a:prstGeom>
          <a:solidFill>
            <a:srgbClr val="FFFFFF">
              <a:alpha val="5000"/>
            </a:srgbClr>
          </a:solidFill>
          <a:ln w="19050">
            <a:solidFill>
              <a:srgbClr val="FFFFFF">
                <a:alpha val="30000"/>
              </a:srgbClr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4075420" y="6537127"/>
            <a:ext cx="240268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147" kern="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LEGADO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4075420" y="6756202"/>
            <a:ext cx="240268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>
                    <a:alpha val="70000"/>
                  </a:srgb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 projetos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0070142" y="7613452"/>
            <a:ext cx="6715305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quem chama, nada muda. Para a gente, tudo muda.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143000" y="9705975"/>
            <a:ext cx="16554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27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Custódia de Ativos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776990" y="9705975"/>
            <a:ext cx="186317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ONDE VAMOS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6618744" y="9705975"/>
            <a:ext cx="60245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14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52500"/>
            <a:ext cx="419100" cy="342900"/>
          </a:xfrm>
          <a:prstGeom prst="ellipse">
            <a:avLst/>
          </a:prstGeom>
          <a:ln w="19050">
            <a:solidFill>
              <a:srgbClr val="FF6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8250" y="1009650"/>
            <a:ext cx="2286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714500" y="1000125"/>
            <a:ext cx="37910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6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ESTRATÉGIA DE MIGRAÇÃO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00200"/>
            <a:ext cx="14716125" cy="684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800" b="1" spc="-72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Três fases. Sem janela coordenada.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143000" y="2817763"/>
            <a:ext cx="5181600" cy="5488037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9050">
            <a:solidFill>
              <a:srgbClr val="E6E6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6850" y="3213050"/>
            <a:ext cx="133350" cy="133350"/>
          </a:xfrm>
          <a:prstGeom prst="ellipse">
            <a:avLst/>
          </a:prstGeom>
          <a:solidFill>
            <a:srgbClr val="FF6200"/>
          </a:solidFill>
          <a:ln/>
        </p:spPr>
      </p:sp>
      <p:sp>
        <p:nvSpPr>
          <p:cNvPr id="8" name="Text 6"/>
          <p:cNvSpPr/>
          <p:nvPr/>
        </p:nvSpPr>
        <p:spPr>
          <a:xfrm>
            <a:off x="1733550" y="3179713"/>
            <a:ext cx="92526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FF6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FASE 01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66850" y="3570238"/>
            <a:ext cx="4669917" cy="41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50" b="1" spc="-43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Convivência ligada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466850" y="4140696"/>
            <a:ext cx="4669917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Camada entra em produção. Fatia controlada do tráfego vai para o orquestrador novo. Métricas em paralelo com o legado.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553200" y="2817763"/>
            <a:ext cx="5181600" cy="5488037"/>
          </a:xfrm>
          <a:prstGeom prst="roundRect">
            <a:avLst>
              <a:gd name="adj" fmla="val 3676"/>
            </a:avLst>
          </a:prstGeom>
          <a:solidFill>
            <a:srgbClr val="FF6200"/>
          </a:solidFill>
          <a:ln w="19050">
            <a:solidFill>
              <a:srgbClr val="FF62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77050" y="3213050"/>
            <a:ext cx="133350" cy="1333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143750" y="3179713"/>
            <a:ext cx="95934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FFFFFF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FASE 02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77050" y="3570238"/>
            <a:ext cx="4669917" cy="7980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50" b="1" spc="-43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Migração consumidor a consumidor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6877050" y="4520654"/>
            <a:ext cx="4669917" cy="9181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consumidor migrado ganha eventos e observabilidade — sem precisar mudar o próprio código.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1963400" y="2817763"/>
            <a:ext cx="5181600" cy="5488037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9050">
            <a:solidFill>
              <a:srgbClr val="E6E6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287250" y="3213050"/>
            <a:ext cx="133350" cy="133350"/>
          </a:xfrm>
          <a:prstGeom prst="ellipse">
            <a:avLst/>
          </a:prstGeom>
          <a:solidFill>
            <a:srgbClr val="FF6200"/>
          </a:solidFill>
          <a:ln/>
        </p:spPr>
      </p:sp>
      <p:sp>
        <p:nvSpPr>
          <p:cNvPr id="18" name="Text 16"/>
          <p:cNvSpPr/>
          <p:nvPr/>
        </p:nvSpPr>
        <p:spPr>
          <a:xfrm>
            <a:off x="12553950" y="3179713"/>
            <a:ext cx="9620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16" kern="0" dirty="0">
                <a:solidFill>
                  <a:srgbClr val="FF6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FASE 03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287250" y="3570238"/>
            <a:ext cx="4669917" cy="41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50" b="1" spc="-43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Desligamento do legado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12287250" y="4140696"/>
            <a:ext cx="4669917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o último consumidor estiver no novo, o sistema antigo é desligado. Sem big bang.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143000" y="8572500"/>
            <a:ext cx="16002000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8820150"/>
            <a:ext cx="205606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MARCO 01 · MVP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43000" y="9058275"/>
            <a:ext cx="2056061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40" kern="0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Julho </a:t>
            </a:r>
            <a:pPr algn="l" indent="0" marL="0">
              <a:buNone/>
            </a:pPr>
            <a:r>
              <a:rPr lang="en-US" sz="2700" b="1" spc="-40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/ 2026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3694361" y="8820150"/>
            <a:ext cx="462898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89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MARCO 02 · PRIMEIRA ONDA DE MIGRAÇÃO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694361" y="9058275"/>
            <a:ext cx="4628988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40" kern="0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Agosto </a:t>
            </a:r>
            <a:pPr algn="l" indent="0" marL="0">
              <a:buNone/>
            </a:pPr>
            <a:r>
              <a:rPr lang="en-US" sz="2700" b="1" spc="-40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/ 2026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1143000" y="9705975"/>
            <a:ext cx="16554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27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Custódia de Ativos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662541" y="9705975"/>
            <a:ext cx="20574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CHEGAMOS LÁ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6583918" y="9705975"/>
            <a:ext cx="63728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14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52500"/>
            <a:ext cx="443954" cy="342900"/>
          </a:xfrm>
          <a:prstGeom prst="ellipse">
            <a:avLst/>
          </a:prstGeom>
          <a:ln w="19050">
            <a:solidFill>
              <a:srgbClr val="FF6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8250" y="1009650"/>
            <a:ext cx="2534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739354" y="1000125"/>
            <a:ext cx="317944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6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COMO ACELERADOR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00200"/>
            <a:ext cx="14716125" cy="684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800" b="1" spc="-72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Devin entrou no time.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43000" y="2512963"/>
            <a:ext cx="1275397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 autônomo de engenharia de software — não autocomplete, mas par que executa de ponta a ponta.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143000" y="5110311"/>
            <a:ext cx="8395841" cy="9525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4173289"/>
            <a:ext cx="381000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F6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638300" y="4173289"/>
            <a:ext cx="8137557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Lê o repositório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entende a estrutura do projeto antes de mexer.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143000" y="5912197"/>
            <a:ext cx="8395841" cy="9525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5348436"/>
            <a:ext cx="381000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F6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638300" y="5348436"/>
            <a:ext cx="8137557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 funcionalidade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escreve testes.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143000" y="6714083"/>
            <a:ext cx="8395841" cy="9525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6150322"/>
            <a:ext cx="381000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F6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638300" y="6150322"/>
            <a:ext cx="8137557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Abre PR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a tarefa fechada. O time revisa e aprova.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143000" y="6952208"/>
            <a:ext cx="381000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F6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638300" y="6952208"/>
            <a:ext cx="8137557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Libera o time </a:t>
            </a:r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decisão de design, regra de negócio e revisão.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0148441" y="4351139"/>
            <a:ext cx="6996410" cy="3360241"/>
          </a:xfrm>
          <a:prstGeom prst="roundRect">
            <a:avLst>
              <a:gd name="adj" fmla="val 6803"/>
            </a:avLst>
          </a:prstGeom>
          <a:solidFill>
            <a:srgbClr val="1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10605641" y="4884539"/>
            <a:ext cx="626447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0" b="1" spc="-480" kern="0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60</a:t>
            </a:r>
            <a:pPr algn="l" indent="0" marL="0">
              <a:lnSpc>
                <a:spcPct val="95000"/>
              </a:lnSpc>
              <a:buNone/>
            </a:pPr>
            <a:r>
              <a:rPr lang="en-US" sz="6000" b="1" spc="-480" kern="0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%</a:t>
            </a:r>
            <a:endParaRPr lang="en-US" sz="12000" dirty="0"/>
          </a:p>
        </p:txBody>
      </p:sp>
      <p:sp>
        <p:nvSpPr>
          <p:cNvPr id="20" name="Text 18"/>
          <p:cNvSpPr/>
          <p:nvPr/>
        </p:nvSpPr>
        <p:spPr>
          <a:xfrm>
            <a:off x="10605641" y="6484739"/>
            <a:ext cx="6264470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código do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FF6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entregue por Devin. Sem ele, teríamos levado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FF6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3×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 tempo.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143000" y="8696325"/>
            <a:ext cx="16002000" cy="828675"/>
          </a:xfrm>
          <a:prstGeom prst="roundRect">
            <a:avLst>
              <a:gd name="adj" fmla="val 18391"/>
            </a:avLst>
          </a:prstGeom>
          <a:solidFill>
            <a:srgbClr val="1A1A1A"/>
          </a:solidFill>
          <a:ln/>
        </p:spPr>
      </p:sp>
      <p:sp>
        <p:nvSpPr>
          <p:cNvPr id="22" name="Text 20"/>
          <p:cNvSpPr/>
          <p:nvPr/>
        </p:nvSpPr>
        <p:spPr>
          <a:xfrm>
            <a:off x="1245870" y="8924925"/>
            <a:ext cx="1579626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highlight>
                  <a:srgbClr val="1A1A1A"/>
                </a:highlight>
                <a:latin typeface="Manrope" pitchFamily="34" charset="0"/>
                <a:ea typeface="Manrope" pitchFamily="34" charset="-122"/>
                <a:cs typeface="Manrope" pitchFamily="34" charset="-120"/>
              </a:rPr>
              <a:t>AI não substituiu engenheiros — </a:t>
            </a:r>
            <a:pPr algn="ctr" indent="0" marL="0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encurtou o caminho do desenho ao código.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143000" y="9705975"/>
            <a:ext cx="16554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27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Custódia de Ativos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661797" y="9705975"/>
            <a:ext cx="20574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CHEGAMOS LÁ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6582579" y="9705975"/>
            <a:ext cx="6386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14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52500"/>
            <a:ext cx="441573" cy="342900"/>
          </a:xfrm>
          <a:prstGeom prst="ellipse">
            <a:avLst/>
          </a:prstGeom>
          <a:ln w="19050">
            <a:solidFill>
              <a:srgbClr val="FF6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8250" y="1009650"/>
            <a:ext cx="2510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736973" y="1000125"/>
            <a:ext cx="475530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297" kern="0" dirty="0">
                <a:solidFill>
                  <a:srgbClr val="FF62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CONCLUSÃO E PRÓXIMOS PASSOS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600200"/>
            <a:ext cx="14716125" cy="684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800" b="1" spc="-72" kern="0" dirty="0">
                <a:solidFill>
                  <a:srgbClr val="1A1A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Três coisas para levar. Uma coisa para devolver.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1143000" y="4195018"/>
            <a:ext cx="8395841" cy="1905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008263"/>
            <a:ext cx="6858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981200" y="3208288"/>
            <a:ext cx="778437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arquitetura atual </a:t>
            </a:r>
            <a:pPr algn="l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chegou no limite. </a:t>
            </a:r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é dívida técnica — é teto de produto.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143000" y="5934224"/>
            <a:ext cx="8395841" cy="1905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747468"/>
            <a:ext cx="6858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981200" y="4947493"/>
            <a:ext cx="778437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Orquestrador + convivência </a:t>
            </a:r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resolvem sem big bang. Evolução controlada, consumidor por consumidor.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43000" y="6486674"/>
            <a:ext cx="6858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FF62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1981200" y="6686699"/>
            <a:ext cx="778437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</a:t>
            </a:r>
            <a:pPr algn="l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acelera o caminho </a:t>
            </a:r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mas as decisões de produto e arquitetura continuam sendo de vocês.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148441" y="2741563"/>
            <a:ext cx="6996410" cy="6783437"/>
          </a:xfrm>
          <a:prstGeom prst="roundRect">
            <a:avLst>
              <a:gd name="adj" fmla="val 3370"/>
            </a:avLst>
          </a:prstGeom>
          <a:solidFill>
            <a:srgbClr val="FF6200"/>
          </a:solidFill>
          <a:ln/>
        </p:spPr>
      </p:sp>
      <p:sp>
        <p:nvSpPr>
          <p:cNvPr id="15" name="Text 13"/>
          <p:cNvSpPr/>
          <p:nvPr/>
        </p:nvSpPr>
        <p:spPr>
          <a:xfrm>
            <a:off x="10567541" y="5318968"/>
            <a:ext cx="634295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243" kern="0" dirty="0">
                <a:solidFill>
                  <a:srgbClr val="FFFFFF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PRECISAMOS DE VOCÊS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567541" y="5709493"/>
            <a:ext cx="6342956" cy="4990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300" b="1" spc="-49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Feedback sincero.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0567541" y="6360914"/>
            <a:ext cx="6342956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FFFFFF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produto não é de uma squad. É de toda a comunidade — e a próxima decisão de desenho começa nesta sala.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143000" y="9705975"/>
            <a:ext cx="16554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350" spc="27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Custódia de Ativos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769846" y="9705975"/>
            <a:ext cx="183639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3D3D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PRÓXIMOS PASSOS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6577667" y="9705975"/>
            <a:ext cx="64353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6B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14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2026-04-26T22:11:37Z</dcterms:created>
  <dcterms:modified xsi:type="dcterms:W3CDTF">2026-04-26T22:11:37Z</dcterms:modified>
</cp:coreProperties>
</file>