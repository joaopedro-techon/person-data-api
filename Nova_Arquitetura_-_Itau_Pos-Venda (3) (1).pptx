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10287000" cx="18288000"/>
  <p:notesSz cx="10287000" cy="18288000"/>
  <p:embeddedFontLst>
    <p:embeddedFont>
      <p:font typeface="Inter"/>
      <p:regular r:id="rId22"/>
      <p:bold r:id="rId23"/>
      <p:italic r:id="rId24"/>
      <p:boldItalic r:id="rId25"/>
    </p:embeddedFont>
    <p:embeddedFont>
      <p:font typeface="Manrop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prmaTNhKacLHrUxxb/X9WEt22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Inter-regular.fntdata"/><Relationship Id="rId21" Type="http://schemas.openxmlformats.org/officeDocument/2006/relationships/slide" Target="slides/slide17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anrope-regular.fntdata"/><Relationship Id="rId25" Type="http://schemas.openxmlformats.org/officeDocument/2006/relationships/font" Target="fonts/Inter-boldItalic.fntdata"/><Relationship Id="rId28" Type="http://customschemas.google.com/relationships/presentationmetadata" Target="metadata"/><Relationship Id="rId27" Type="http://schemas.openxmlformats.org/officeDocument/2006/relationships/font" Target="fonts/Manrope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bbabf6fc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dbbabf6fc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dbbabf6fc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bbabf6fc9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dbbabf6fc9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dbbabf6fc9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bbabf6fc9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dbbabf6fc9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dbbabf6fc9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905000" y="2575322"/>
            <a:ext cx="1393126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EVOLUÇÃO DA ARQUITETURA DE PÓS-VENDA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905000" y="3203972"/>
            <a:ext cx="13931265" cy="4545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700"/>
              <a:buFont typeface="Manrope"/>
              <a:buNone/>
            </a:pPr>
            <a:r>
              <a:rPr b="1" i="0" lang="en-US" sz="87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Em 4 anos, o pós-venda </a:t>
            </a:r>
            <a:r>
              <a:rPr b="1" i="0" lang="en-US" sz="87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cresceu. </a:t>
            </a:r>
            <a:r>
              <a:rPr b="1" i="0" lang="en-US" sz="87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É hora da arquitetura </a:t>
            </a:r>
            <a:r>
              <a:rPr b="1" i="0" lang="en-US" sz="87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crescer junto.</a:t>
            </a:r>
            <a:endParaRPr b="0" i="0" sz="8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1143000" y="952500"/>
            <a:ext cx="454670" cy="342900"/>
          </a:xfrm>
          <a:prstGeom prst="ellipse">
            <a:avLst/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1238250" y="1009650"/>
            <a:ext cx="26417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1750070" y="1000125"/>
            <a:ext cx="44427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A PROMESSA DESTA CONVERSA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1143000" y="1600200"/>
            <a:ext cx="14716125" cy="8701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300"/>
              <a:buFont typeface="Manrope"/>
              <a:buNone/>
            </a:pPr>
            <a:r>
              <a:rPr b="1" i="0" lang="en-US" sz="63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Três partes, uma decisão.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143000" y="2698998"/>
            <a:ext cx="12753975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Diagnóstico do hoje, desenho do amanhã, e o caminho controlado entre os dois.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143000" y="3582888"/>
            <a:ext cx="5130701" cy="438150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 cap="flat" cmpd="sng" w="1905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1543050" y="4021038"/>
            <a:ext cx="4460519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7200"/>
              <a:buFont typeface="Manrope"/>
              <a:buNone/>
            </a:pPr>
            <a:r>
              <a:rPr b="1" i="0" lang="en-US" sz="72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543050" y="5511850"/>
            <a:ext cx="4460519" cy="47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300"/>
              <a:buFont typeface="Manrope"/>
              <a:buNone/>
            </a:pPr>
            <a:r>
              <a:rPr b="1" i="0" lang="en-US" sz="33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Onde estamos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543050" y="6528197"/>
            <a:ext cx="4460519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A arquitetura atual e suas dores. Por que sustentação está consumindo o tempo de evolução.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578501" y="3582888"/>
            <a:ext cx="5130850" cy="438150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 cap="flat" cmpd="sng" w="1905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978551" y="4021038"/>
            <a:ext cx="4460672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7200"/>
              <a:buFont typeface="Manrope"/>
              <a:buNone/>
            </a:pPr>
            <a:r>
              <a:rPr b="1" i="0" lang="en-US" sz="72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978551" y="5511850"/>
            <a:ext cx="4460672" cy="47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300"/>
              <a:buFont typeface="Manrope"/>
              <a:buNone/>
            </a:pPr>
            <a:r>
              <a:rPr b="1" i="0" lang="en-US" sz="33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Para onde vamos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978551" y="6528197"/>
            <a:ext cx="4460672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A nova arquitetura em dois pilares: orquestrador único e camada de convivência.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2014150" y="3582888"/>
            <a:ext cx="5130850" cy="438150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 cap="flat" cmpd="sng" w="1905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2414200" y="4021038"/>
            <a:ext cx="4460672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7200"/>
              <a:buFont typeface="Manrope"/>
              <a:buNone/>
            </a:pPr>
            <a:r>
              <a:rPr b="1" i="0" lang="en-US" sz="72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2414200" y="5671840"/>
            <a:ext cx="4460672" cy="47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300"/>
              <a:buFont typeface="Manrope"/>
              <a:buNone/>
            </a:pPr>
            <a:r>
              <a:rPr b="1" i="0" lang="en-US" sz="33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Como chegamos lá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2414200" y="6848177"/>
            <a:ext cx="4460672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Migração consumidor a consumidor, e AI como acelerador da entrega.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Custódia de Ativos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248924" y="9705975"/>
            <a:ext cx="8462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AGENDA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6545520" y="9705975"/>
            <a:ext cx="67568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02 / 14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1143000" y="952500"/>
            <a:ext cx="481757" cy="342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1238250" y="1009650"/>
            <a:ext cx="29125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777157" y="1000125"/>
            <a:ext cx="311200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O QUE FAZEMOS HOJE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143000" y="1600200"/>
            <a:ext cx="838200" cy="57150"/>
          </a:xfrm>
          <a:prstGeom prst="roundRect">
            <a:avLst>
              <a:gd fmla="val 50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143000" y="1962150"/>
            <a:ext cx="14716125" cy="17022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300"/>
              <a:buFont typeface="Manrope"/>
              <a:buNone/>
            </a:pPr>
            <a:r>
              <a:rPr b="1" i="0" lang="en-US" sz="63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Pós-Venda é o motor de manutenção das operações de crédito.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143000" y="3893046"/>
            <a:ext cx="12753975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Tudo que acontece com o produto depois que o cliente já contratou.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143000" y="4624536"/>
            <a:ext cx="2007543" cy="581025"/>
          </a:xfrm>
          <a:prstGeom prst="roundRect">
            <a:avLst>
              <a:gd fmla="val 50000" name="adj"/>
            </a:avLst>
          </a:prstGeom>
          <a:solidFill>
            <a:srgbClr val="FF6200"/>
          </a:solidFill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1428750" y="4776936"/>
            <a:ext cx="15122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Amortização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302943" y="4624536"/>
            <a:ext cx="1797546" cy="581025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3588693" y="4776936"/>
            <a:ext cx="130224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Liquidação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252889" y="4624536"/>
            <a:ext cx="2189857" cy="581025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538639" y="4776936"/>
            <a:ext cx="169455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Cancelamento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595146" y="4624536"/>
            <a:ext cx="3235077" cy="581025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880896" y="4776936"/>
            <a:ext cx="276062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Estorno de recebimento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982623" y="4624536"/>
            <a:ext cx="4034879" cy="581025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1268373" y="4776936"/>
            <a:ext cx="358442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Alteração de meio de cobrança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143000" y="5738961"/>
            <a:ext cx="160020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143000" y="6139011"/>
            <a:ext cx="274701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7200"/>
              <a:buFont typeface="Manrope"/>
              <a:buNone/>
            </a:pPr>
            <a:r>
              <a:rPr b="1" i="0" lang="en-US" sz="72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2021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43000" y="7129611"/>
            <a:ext cx="274701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EM PRODUÇÃO DESDE O FINAL DE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0" y="6139011"/>
            <a:ext cx="274701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7200"/>
              <a:buFont typeface="Manrope"/>
              <a:buNone/>
            </a:pPr>
            <a:r>
              <a:rPr b="1" i="0" lang="en-US" sz="72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15K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0" y="7129611"/>
            <a:ext cx="274701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SOLICITAÇÕES POR DIA EM MÉDIA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001000" y="6139011"/>
            <a:ext cx="274701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7200"/>
              <a:buFont typeface="Manrope"/>
              <a:buNone/>
            </a:pPr>
            <a:r>
              <a:rPr b="1" i="0" lang="en-US" sz="72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150×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001000" y="7129611"/>
            <a:ext cx="274701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CRESCIMENTO DESDE O LANÇAMENTO (DE 100/DIA)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Custódia de Ativos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903196" y="9705975"/>
            <a:ext cx="153635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ONDE ESTAMOS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6544181" y="9705975"/>
            <a:ext cx="6770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03 / 14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1143000" y="952500"/>
            <a:ext cx="479227" cy="342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238250" y="1009650"/>
            <a:ext cx="28872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774627" y="1000125"/>
            <a:ext cx="32412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COMO FUNCIONA HOJE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Cliente recebe um identificador. E aguarda.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143000" y="2512963"/>
            <a:ext cx="12753975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Um workflow sequencial de fases assíncronas — máquina de estados rodando em background.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143000" y="5410349"/>
            <a:ext cx="2095500" cy="1114425"/>
          </a:xfrm>
          <a:prstGeom prst="roundRect">
            <a:avLst>
              <a:gd fmla="val 13675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1390650" y="5657999"/>
            <a:ext cx="16002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ORIGEM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390650" y="5934224"/>
            <a:ext cx="1600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Cliente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543300" y="5291286"/>
            <a:ext cx="11201400" cy="1352550"/>
          </a:xfrm>
          <a:prstGeom prst="roundRect">
            <a:avLst>
              <a:gd fmla="val 14085" name="adj"/>
            </a:avLst>
          </a:prstGeom>
          <a:solidFill>
            <a:srgbClr val="FAFAFA"/>
          </a:solidFill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867150" y="5157936"/>
            <a:ext cx="5422553" cy="2000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019550" y="5157936"/>
            <a:ext cx="528042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MÁQUINA DE ESTADOS · WORKFLOW SEQUENCIAL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867150" y="5615136"/>
            <a:ext cx="1866900" cy="704850"/>
          </a:xfrm>
          <a:prstGeom prst="roundRect">
            <a:avLst>
              <a:gd fmla="val 16216" name="adj"/>
            </a:avLst>
          </a:prstGeom>
          <a:solidFill>
            <a:srgbClr val="FFFFFF"/>
          </a:solidFill>
          <a:ln cap="flat" cmpd="sng" w="19050">
            <a:solidFill>
              <a:srgbClr val="CFCFC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924300" y="5824686"/>
            <a:ext cx="1752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50"/>
              <a:buFont typeface="Manrope"/>
              <a:buNone/>
            </a:pPr>
            <a:r>
              <a:rPr b="1" i="0" lang="en-US" sz="1650" u="none" cap="none" strike="noStrike">
                <a:solidFill>
                  <a:srgbClr val="3D3D3D"/>
                </a:solidFill>
                <a:latin typeface="Manrope"/>
                <a:ea typeface="Manrope"/>
                <a:cs typeface="Manrope"/>
                <a:sym typeface="Manrope"/>
              </a:rPr>
              <a:t>Validação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695950" y="5815161"/>
            <a:ext cx="38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038850" y="5615136"/>
            <a:ext cx="1866900" cy="704850"/>
          </a:xfrm>
          <a:prstGeom prst="roundRect">
            <a:avLst>
              <a:gd fmla="val 16216" name="adj"/>
            </a:avLst>
          </a:prstGeom>
          <a:solidFill>
            <a:srgbClr val="FFFFFF"/>
          </a:solidFill>
          <a:ln cap="flat" cmpd="sng" w="19050">
            <a:solidFill>
              <a:srgbClr val="CFCFC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6096000" y="5824686"/>
            <a:ext cx="1752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50"/>
              <a:buFont typeface="Manrope"/>
              <a:buNone/>
            </a:pPr>
            <a:r>
              <a:rPr b="1" i="0" lang="en-US" sz="1650" u="none" cap="none" strike="noStrike">
                <a:solidFill>
                  <a:srgbClr val="3D3D3D"/>
                </a:solidFill>
                <a:latin typeface="Manrope"/>
                <a:ea typeface="Manrope"/>
                <a:cs typeface="Manrope"/>
                <a:sym typeface="Manrope"/>
              </a:rPr>
              <a:t>Pagamento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7867650" y="5815161"/>
            <a:ext cx="38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210550" y="5615136"/>
            <a:ext cx="1866900" cy="704850"/>
          </a:xfrm>
          <a:prstGeom prst="roundRect">
            <a:avLst>
              <a:gd fmla="val 16216" name="adj"/>
            </a:avLst>
          </a:prstGeom>
          <a:solidFill>
            <a:srgbClr val="FFFFFF"/>
          </a:solidFill>
          <a:ln cap="flat" cmpd="sng" w="19050">
            <a:solidFill>
              <a:srgbClr val="CFCFC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8267700" y="5824686"/>
            <a:ext cx="1752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50"/>
              <a:buFont typeface="Manrope"/>
              <a:buNone/>
            </a:pPr>
            <a:r>
              <a:rPr b="1" i="0" lang="en-US" sz="1650" u="none" cap="none" strike="noStrike">
                <a:solidFill>
                  <a:srgbClr val="3D3D3D"/>
                </a:solidFill>
                <a:latin typeface="Manrope"/>
                <a:ea typeface="Manrope"/>
                <a:cs typeface="Manrope"/>
                <a:sym typeface="Manrope"/>
              </a:rPr>
              <a:t>Efetivação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0039350" y="5815161"/>
            <a:ext cx="38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0382250" y="5615136"/>
            <a:ext cx="1866900" cy="704850"/>
          </a:xfrm>
          <a:prstGeom prst="roundRect">
            <a:avLst>
              <a:gd fmla="val 16216" name="adj"/>
            </a:avLst>
          </a:prstGeom>
          <a:solidFill>
            <a:srgbClr val="FFFFFF"/>
          </a:solidFill>
          <a:ln cap="flat" cmpd="sng" w="19050">
            <a:solidFill>
              <a:srgbClr val="CFCFC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10439400" y="5824686"/>
            <a:ext cx="1752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50"/>
              <a:buFont typeface="Manrope"/>
              <a:buNone/>
            </a:pPr>
            <a:r>
              <a:rPr b="1" i="0" lang="en-US" sz="1650" u="none" cap="none" strike="noStrike">
                <a:solidFill>
                  <a:srgbClr val="3D3D3D"/>
                </a:solidFill>
                <a:latin typeface="Manrope"/>
                <a:ea typeface="Manrope"/>
                <a:cs typeface="Manrope"/>
                <a:sym typeface="Manrope"/>
              </a:rPr>
              <a:t>Comprovante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2211050" y="5815161"/>
            <a:ext cx="38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2553950" y="5615136"/>
            <a:ext cx="1866900" cy="704850"/>
          </a:xfrm>
          <a:prstGeom prst="roundRect">
            <a:avLst>
              <a:gd fmla="val 16216" name="adj"/>
            </a:avLst>
          </a:prstGeom>
          <a:solidFill>
            <a:srgbClr val="FFFFFF"/>
          </a:solidFill>
          <a:ln cap="flat" cmpd="sng" w="19050">
            <a:solidFill>
              <a:srgbClr val="CFCFC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12611100" y="5824686"/>
            <a:ext cx="1752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50"/>
              <a:buFont typeface="Manrope"/>
              <a:buNone/>
            </a:pPr>
            <a:r>
              <a:rPr b="1" i="0" lang="en-US" sz="1650" u="none" cap="none" strike="noStrike">
                <a:solidFill>
                  <a:srgbClr val="3D3D3D"/>
                </a:solidFill>
                <a:latin typeface="Manrope"/>
                <a:ea typeface="Manrope"/>
                <a:cs typeface="Manrope"/>
                <a:sym typeface="Manrope"/>
              </a:rPr>
              <a:t>Conclusão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5049500" y="5238899"/>
            <a:ext cx="2095500" cy="1457325"/>
          </a:xfrm>
          <a:prstGeom prst="roundRect">
            <a:avLst>
              <a:gd fmla="val 10458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5297150" y="5486549"/>
            <a:ext cx="16002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RESPOSTA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5297150" y="5762774"/>
            <a:ext cx="1600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ID + aguardar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143000" y="7001024"/>
            <a:ext cx="16002000" cy="880021"/>
          </a:xfrm>
          <a:prstGeom prst="roundRect">
            <a:avLst>
              <a:gd fmla="val 17318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1485900" y="7272486"/>
            <a:ext cx="1751558" cy="337096"/>
          </a:xfrm>
          <a:prstGeom prst="roundRect">
            <a:avLst>
              <a:gd fmla="val 50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1657350" y="7329636"/>
            <a:ext cx="1484858" cy="26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CAIXA-PRETA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466058" y="7267724"/>
            <a:ext cx="9195892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Do envio ao resultado, ninguém vê nada — nem o cliente, nem a gente.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Custódia de Ativos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900666" y="9705975"/>
            <a:ext cx="153635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ONDE ESTAMOS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6539270" y="9705975"/>
            <a:ext cx="68193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04 / 14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1143000" y="952500"/>
            <a:ext cx="483989" cy="342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1238250" y="1009650"/>
            <a:ext cx="29348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779389" y="1000125"/>
            <a:ext cx="38747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A HISTÓRIA QUE SE REPETE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Uma manhã de quarta-feira qualquer.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905000" y="4342507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3300"/>
              <a:buFont typeface="Manrope"/>
              <a:buNone/>
            </a:pPr>
            <a:r>
              <a:rPr b="1" i="0" lang="en-US" sz="33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08h00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457700" y="4494907"/>
            <a:ext cx="1306791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Cliente solicita amortização. </a:t>
            </a:r>
            <a:r>
              <a:rPr b="0" i="0" lang="en-US" sz="22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Sistema responde com identificador. </a:t>
            </a:r>
            <a:r>
              <a:rPr b="0" i="0" lang="en-US" sz="22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"Aguarde."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905000" y="5371207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3300"/>
              <a:buFont typeface="Manrope"/>
              <a:buNone/>
            </a:pPr>
            <a:r>
              <a:rPr b="1" i="0" lang="en-US" sz="33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08h01 → ?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457700" y="5523607"/>
            <a:ext cx="1306791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Workflow trava em alguma fase. </a:t>
            </a:r>
            <a:r>
              <a:rPr b="0" i="0" lang="en-US" sz="22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Sem evento. Sem alerta. Sem ninguém saber.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905000" y="6399907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3300"/>
              <a:buFont typeface="Manrope"/>
              <a:buNone/>
            </a:pPr>
            <a:r>
              <a:rPr b="1" i="0" lang="en-US" sz="33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08h50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457700" y="6552307"/>
            <a:ext cx="1306791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Gerente da agência liga reclamando. </a:t>
            </a:r>
            <a:r>
              <a:rPr b="0" i="0" lang="en-US" sz="22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Chamado é aberto. Chega na squad.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905000" y="7428607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3300"/>
              <a:buFont typeface="Manrope"/>
              <a:buNone/>
            </a:pPr>
            <a:r>
              <a:rPr b="1" i="0" lang="en-US" sz="33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+ horas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457700" y="7581007"/>
            <a:ext cx="1306791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Garimpo log a log. </a:t>
            </a:r>
            <a:r>
              <a:rPr b="0" i="0" lang="en-US" sz="22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Cinco serviços, mesh, fila — até descobrir o ponto travado. </a:t>
            </a:r>
            <a:r>
              <a:rPr b="0" i="0" lang="en-US" sz="22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MTTR sobe.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Custódia de Ativos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905280" y="9705975"/>
            <a:ext cx="153635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ONDE ESTAMOS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6548348" y="9705975"/>
            <a:ext cx="67285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05 / 14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1143000" y="952500"/>
            <a:ext cx="480120" cy="342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238250" y="1009650"/>
            <a:ext cx="2896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775520" y="1000125"/>
            <a:ext cx="29533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AS TRÊS DORES RAIZ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Toda a dor cabe em três caixas.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143000" y="2741563"/>
            <a:ext cx="5130701" cy="5688062"/>
          </a:xfrm>
          <a:prstGeom prst="roundRect">
            <a:avLst>
              <a:gd fmla="val 37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143000" y="8410575"/>
            <a:ext cx="5130701" cy="190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1143000" y="2741563"/>
            <a:ext cx="5130701" cy="76200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1143000" y="2741563"/>
            <a:ext cx="19050" cy="568806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6254651" y="2741563"/>
            <a:ext cx="19050" cy="568806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1504950" y="3198763"/>
            <a:ext cx="453900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DOR 01 · EXPERIÊNCIA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504950" y="3589288"/>
            <a:ext cx="4539005" cy="9179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300"/>
              <a:buFont typeface="Manrope"/>
              <a:buNone/>
            </a:pPr>
            <a:r>
              <a:rPr b="1" i="0" lang="en-US" sz="33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O cliente precisa adivinhar.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344930" y="4735860"/>
            <a:ext cx="4643021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Sem visibilidade do estado da solicitação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Modelo é pull — cliente faz polling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Sem evento proativo de progresso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578501" y="2741563"/>
            <a:ext cx="5130850" cy="5688062"/>
          </a:xfrm>
          <a:prstGeom prst="roundRect">
            <a:avLst>
              <a:gd fmla="val 37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6578501" y="8410575"/>
            <a:ext cx="5130850" cy="190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578501" y="2741563"/>
            <a:ext cx="5130850" cy="76200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578501" y="2741563"/>
            <a:ext cx="19050" cy="568806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11690300" y="2741563"/>
            <a:ext cx="19050" cy="568806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940451" y="3198763"/>
            <a:ext cx="453915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DOR 02 · OPERAÇÃO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940451" y="3589288"/>
            <a:ext cx="4539158" cy="9179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300"/>
              <a:buFont typeface="Manrope"/>
              <a:buNone/>
            </a:pPr>
            <a:r>
              <a:rPr b="1" i="0" lang="en-US" sz="33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A gente também não enxerga.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780431" y="4735860"/>
            <a:ext cx="4643170" cy="18474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Sem observabilidade nativa do 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Sem timeout configurado por fase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Sem detecção automática de travamento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2014150" y="2741563"/>
            <a:ext cx="5130850" cy="5688062"/>
          </a:xfrm>
          <a:prstGeom prst="roundRect">
            <a:avLst>
              <a:gd fmla="val 37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12014150" y="8410575"/>
            <a:ext cx="5130850" cy="190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12014150" y="2741563"/>
            <a:ext cx="5130850" cy="76200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12014150" y="2741563"/>
            <a:ext cx="19050" cy="568806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17125950" y="2741563"/>
            <a:ext cx="19050" cy="568806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12376100" y="3198763"/>
            <a:ext cx="453915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DOR 03 · ARQUITETURA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2376100" y="3589288"/>
            <a:ext cx="4539158" cy="9179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300"/>
              <a:buFont typeface="Manrope"/>
              <a:buNone/>
            </a:pPr>
            <a:r>
              <a:rPr b="1" i="0" lang="en-US" sz="33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Seis projetos, uma só verdade fragmentada.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2216080" y="4735860"/>
            <a:ext cx="4643170" cy="18474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Orquestradores Java apartados por manutenção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Código duplicado e governança difusa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Disfunções de domínio viraram workaround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143000" y="8696325"/>
            <a:ext cx="16002000" cy="828675"/>
          </a:xfrm>
          <a:prstGeom prst="roundRect">
            <a:avLst>
              <a:gd fmla="val 18391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1245870" y="8924925"/>
            <a:ext cx="1579626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highlight>
                  <a:srgbClr val="1A1A1A"/>
                </a:highlight>
                <a:latin typeface="Manrope"/>
                <a:ea typeface="Manrope"/>
                <a:cs typeface="Manrope"/>
                <a:sym typeface="Manrope"/>
              </a:rPr>
              <a:t>Hoje gastamos </a:t>
            </a:r>
            <a:r>
              <a:rPr b="1" i="0" lang="en-US" sz="22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mais tempo sustentando </a:t>
            </a:r>
            <a:r>
              <a:rPr b="1" i="0" lang="en-US" sz="2250" u="none" cap="none" strike="noStrike">
                <a:solidFill>
                  <a:srgbClr val="FFFFFF"/>
                </a:solidFill>
                <a:highlight>
                  <a:srgbClr val="1A1A1A"/>
                </a:highlight>
                <a:latin typeface="Manrope"/>
                <a:ea typeface="Manrope"/>
                <a:cs typeface="Manrope"/>
                <a:sym typeface="Manrope"/>
              </a:rPr>
              <a:t>do que evoluindo.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Custódia de Ativos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8902898" y="9705975"/>
            <a:ext cx="153635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ONDE ESTAMOS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6543734" y="9705975"/>
            <a:ext cx="67746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06 / 14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1143000" y="952500"/>
            <a:ext cx="486073" cy="342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1238250" y="1009650"/>
            <a:ext cx="29557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781473" y="1000125"/>
            <a:ext cx="25273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ANTES VS DEPOIS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Mesma operação, dois mundos.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1143000" y="2512963"/>
            <a:ext cx="12753975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Não é refatoração. É mudança de paradigma.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143000" y="3168253"/>
            <a:ext cx="16002000" cy="6356747"/>
          </a:xfrm>
          <a:prstGeom prst="roundRect">
            <a:avLst>
              <a:gd fmla="val 2997" name="adj"/>
            </a:avLst>
          </a:prstGeom>
          <a:noFill/>
          <a:ln cap="flat" cmpd="sng" w="1905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1162050" y="3187303"/>
            <a:ext cx="7981950" cy="63186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1581150" y="3568303"/>
            <a:ext cx="735806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ANTES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407795" y="4073128"/>
            <a:ext cx="7393305" cy="2395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Cliente faz polling para saber o status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Workflow trava em silêncio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 projetos com código duplicado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Disfunção de domínio é workaround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Sustentação consome a evolução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9144000" y="3187303"/>
            <a:ext cx="7981950" cy="631864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9563100" y="3568303"/>
            <a:ext cx="735806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DEPOIS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9389745" y="4073128"/>
            <a:ext cx="7393305" cy="2395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Cliente recebe evento a cada fase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Stuck detection + timeout por fase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Orquestrador único, regras centralizadas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Cada responsabilidade no dono certo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Time volta a investir em produto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Custódia de Ativos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745885" y="9705975"/>
            <a:ext cx="186317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PARA ONDE VAMOS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16556385" y="9705975"/>
            <a:ext cx="6648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07 / 14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/>
          <p:nvPr/>
        </p:nvSpPr>
        <p:spPr>
          <a:xfrm>
            <a:off x="1143000" y="952500"/>
            <a:ext cx="471041" cy="342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1238250" y="1009650"/>
            <a:ext cx="28054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07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766441" y="1000125"/>
            <a:ext cx="505851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PRINCÍPIOS DA NOVA ARQUITETURA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Três princípios. Sem mais.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1143000" y="2817763"/>
            <a:ext cx="5156150" cy="6707237"/>
          </a:xfrm>
          <a:prstGeom prst="roundRect">
            <a:avLst>
              <a:gd fmla="val 3695" name="adj"/>
            </a:avLst>
          </a:prstGeom>
          <a:noFill/>
          <a:ln cap="flat" cmpd="sng" w="1905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1543050" y="3294013"/>
            <a:ext cx="448673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6000"/>
              <a:buFont typeface="Manrope"/>
              <a:buNone/>
            </a:pPr>
            <a:r>
              <a:rPr b="1" i="0" lang="en-US" sz="60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543050" y="4284613"/>
            <a:ext cx="4486732" cy="418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50"/>
              <a:buFont typeface="Manrope"/>
              <a:buNone/>
            </a:pPr>
            <a:r>
              <a:rPr b="1" i="0" lang="en-US" sz="285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Orientado a eventos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543050" y="4893171"/>
            <a:ext cx="4486732" cy="9181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Cada fase publica estado. Qualquer consumidor se inscreve. Polling vira passado.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565850" y="2817763"/>
            <a:ext cx="5156150" cy="6707237"/>
          </a:xfrm>
          <a:prstGeom prst="roundRect">
            <a:avLst>
              <a:gd fmla="val 3695" name="adj"/>
            </a:avLst>
          </a:prstGeom>
          <a:noFill/>
          <a:ln cap="flat" cmpd="sng" w="1905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6965900" y="3294013"/>
            <a:ext cx="448673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6000"/>
              <a:buFont typeface="Manrope"/>
              <a:buNone/>
            </a:pPr>
            <a:r>
              <a:rPr b="1" i="0" lang="en-US" sz="60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965900" y="4284613"/>
            <a:ext cx="4486732" cy="418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50"/>
              <a:buFont typeface="Manrope"/>
              <a:buNone/>
            </a:pPr>
            <a:r>
              <a:rPr b="1" i="0" lang="en-US" sz="285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Observável por design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965900" y="4893171"/>
            <a:ext cx="4486732" cy="9181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Travamento, latência e falha viram alerta antes de o cliente reclamar — não plugin no fim.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1988701" y="2817763"/>
            <a:ext cx="5156150" cy="6707237"/>
          </a:xfrm>
          <a:prstGeom prst="roundRect">
            <a:avLst>
              <a:gd fmla="val 3695" name="adj"/>
            </a:avLst>
          </a:prstGeom>
          <a:noFill/>
          <a:ln cap="flat" cmpd="sng" w="1905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12388751" y="3294013"/>
            <a:ext cx="448673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6000"/>
              <a:buFont typeface="Manrope"/>
              <a:buNone/>
            </a:pPr>
            <a:r>
              <a:rPr b="1" i="0" lang="en-US" sz="60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2388751" y="4284613"/>
            <a:ext cx="4486732" cy="418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50"/>
              <a:buFont typeface="Manrope"/>
              <a:buNone/>
            </a:pPr>
            <a:r>
              <a:rPr b="1" i="0" lang="en-US" sz="285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Evolutivo sem quebrar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2388751" y="4893171"/>
            <a:ext cx="4486732" cy="9181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A arquitetura nova convive com a antiga. Quem consome hoje não é forçado a mudar amanhã.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Custódia de Ativos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8739634" y="9705975"/>
            <a:ext cx="186317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PARA ONDE VAMOS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6544032" y="9705975"/>
            <a:ext cx="67716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08 / 14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1143000" y="952500"/>
            <a:ext cx="484584" cy="342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1238250" y="1009650"/>
            <a:ext cx="29408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08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1779984" y="1000125"/>
            <a:ext cx="4079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A SOLUÇÃO EM UMA IMAGEM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Dois blocos centrais. Uma arquitetura.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1143000" y="4266307"/>
            <a:ext cx="1905000" cy="80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1314450" y="4456807"/>
            <a:ext cx="156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CONSUMIDORES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619101" y="4675882"/>
            <a:ext cx="102899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App Mobile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1143000" y="5218807"/>
            <a:ext cx="1905000" cy="80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1314450" y="5409307"/>
            <a:ext cx="156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CONSUMIDORES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1404342" y="5628382"/>
            <a:ext cx="145836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Internet Banking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143000" y="6171307"/>
            <a:ext cx="1905000" cy="80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1314450" y="6361807"/>
            <a:ext cx="156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CONSUMIDORES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703338" y="6580882"/>
            <a:ext cx="8603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Agências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143000" y="7123807"/>
            <a:ext cx="1905000" cy="80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1314450" y="7314307"/>
            <a:ext cx="156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CONSUMIDORES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519089" y="7533382"/>
            <a:ext cx="122902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Open Finance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3352800" y="4159746"/>
            <a:ext cx="11582400" cy="1849636"/>
          </a:xfrm>
          <a:prstGeom prst="roundRect">
            <a:avLst>
              <a:gd fmla="val 10299" name="adj"/>
            </a:avLst>
          </a:prstGeom>
          <a:solidFill>
            <a:srgbClr val="FFFFFF"/>
          </a:solidFill>
          <a:ln cap="flat" cmpd="sng" w="28575">
            <a:solidFill>
              <a:srgbClr val="FF62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3561683" y="4569321"/>
            <a:ext cx="1116463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BORDA — ENTRADA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3561683" y="4836021"/>
            <a:ext cx="11164634" cy="47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300"/>
              <a:buFont typeface="Manrope"/>
              <a:buNone/>
            </a:pPr>
            <a:r>
              <a:rPr b="1" i="0" lang="en-US" sz="33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Camada de Convivência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3561683" y="5371207"/>
            <a:ext cx="111646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Mantém os contratos antigos vivos · traduz · redireciona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352800" y="6237982"/>
            <a:ext cx="11582400" cy="1792486"/>
          </a:xfrm>
          <a:prstGeom prst="roundRect">
            <a:avLst>
              <a:gd fmla="val 10628" name="adj"/>
            </a:avLst>
          </a:prstGeom>
          <a:solidFill>
            <a:srgbClr val="FF6200"/>
          </a:solidFill>
          <a:ln>
            <a:noFill/>
          </a:ln>
          <a:effectLst>
            <a:outerShdw blurRad="304800" rotWithShape="0" algn="bl" dir="5400000" dist="114300">
              <a:srgbClr val="FF62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3532251" y="6618982"/>
            <a:ext cx="1122349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CORAÇÃO — COORDENAÇÃO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532251" y="6885682"/>
            <a:ext cx="11223498" cy="47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Manrope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Orquestrador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3532251" y="7420868"/>
            <a:ext cx="1122349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Máquina de estados unificada · workflows · eventos por fase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5240000" y="4266307"/>
            <a:ext cx="1905000" cy="80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15411450" y="4456807"/>
            <a:ext cx="156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DOMÍNIOS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5625018" y="4675882"/>
            <a:ext cx="121116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Comprovante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5240000" y="5218807"/>
            <a:ext cx="1905000" cy="80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15411450" y="5409307"/>
            <a:ext cx="156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DOMÍNIOS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5718482" y="5628382"/>
            <a:ext cx="102408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Pagamento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5240000" y="6171307"/>
            <a:ext cx="1905000" cy="80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15411450" y="6361807"/>
            <a:ext cx="156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DOMÍNIOS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5548967" y="6580882"/>
            <a:ext cx="136326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Envio de E-mail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5240000" y="7123807"/>
            <a:ext cx="1905000" cy="80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15411450" y="7314307"/>
            <a:ext cx="156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DOMÍNIOS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5789027" y="7533382"/>
            <a:ext cx="88299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Garantias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Custódia de Ativos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8739485" y="9705975"/>
            <a:ext cx="186317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PARA ONDE VAMOS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6543734" y="9705975"/>
            <a:ext cx="67746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09 / 14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/>
          <p:nvPr/>
        </p:nvSpPr>
        <p:spPr>
          <a:xfrm>
            <a:off x="1143000" y="952500"/>
            <a:ext cx="486073" cy="342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1238250" y="1009650"/>
            <a:ext cx="29557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09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781473" y="1000125"/>
            <a:ext cx="37578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PILAR 1 — ORQUESTRADOR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Um workflow, um lugar, uma verdade.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1143000" y="3714452"/>
            <a:ext cx="533400" cy="533400"/>
          </a:xfrm>
          <a:prstGeom prst="roundRect">
            <a:avLst>
              <a:gd fmla="val 25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1104900" y="3714452"/>
            <a:ext cx="6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1905000" y="3790652"/>
            <a:ext cx="7255050" cy="1157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Máquina de estados unificada. </a:t>
            </a: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Substitui os 6 projetos Java apartados por um componente único e parametrizável.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1143000" y="5177135"/>
            <a:ext cx="533400" cy="533400"/>
          </a:xfrm>
          <a:prstGeom prst="roundRect">
            <a:avLst>
              <a:gd fmla="val 25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1104900" y="5177135"/>
            <a:ext cx="6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1905000" y="5253335"/>
            <a:ext cx="7255050" cy="1157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Workflows declarativos. </a:t>
            </a: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Amortização, cancelamento, estorno, etc — todos descrevem suas fases no mesmo motor.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1143000" y="6639818"/>
            <a:ext cx="533400" cy="533400"/>
          </a:xfrm>
          <a:prstGeom prst="roundRect">
            <a:avLst>
              <a:gd fmla="val 25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1104900" y="6639818"/>
            <a:ext cx="6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1905000" y="6716018"/>
            <a:ext cx="7255050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Cada fase publica evento. </a:t>
            </a: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Cliente recebe notificação proativa. A gente ganha rastro completo.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143000" y="7729240"/>
            <a:ext cx="533400" cy="533400"/>
          </a:xfrm>
          <a:prstGeom prst="roundRect">
            <a:avLst>
              <a:gd fmla="val 25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1104900" y="7729240"/>
            <a:ext cx="6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905000" y="7805440"/>
            <a:ext cx="7255050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 orquestrador coordena, não invade. </a:t>
            </a: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Cada responsabilidade volta para o domínio dono.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9710738" y="2741563"/>
            <a:ext cx="7434114" cy="6783437"/>
          </a:xfrm>
          <a:prstGeom prst="roundRect">
            <a:avLst>
              <a:gd fmla="val 3370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10167938" y="4034879"/>
            <a:ext cx="671530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WORKFLOW DECLARATIVO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10167938" y="4501604"/>
            <a:ext cx="6715305" cy="415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Manrope"/>
              <a:buNone/>
            </a:pPr>
            <a:r>
              <a:rPr b="1" i="0" lang="en-US" sz="27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Amortização antecipada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0167938" y="5221635"/>
            <a:ext cx="6519714" cy="66675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10387013" y="5402610"/>
            <a:ext cx="304800" cy="304800"/>
          </a:xfrm>
          <a:prstGeom prst="roundRect">
            <a:avLst>
              <a:gd fmla="val 25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10348913" y="5402610"/>
            <a:ext cx="38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10844213" y="5431185"/>
            <a:ext cx="215294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Validar elegibilidade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15488989" y="5459760"/>
            <a:ext cx="10557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→ EVENTO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0167938" y="6002685"/>
            <a:ext cx="6519714" cy="66675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10387013" y="6183660"/>
            <a:ext cx="304800" cy="304800"/>
          </a:xfrm>
          <a:prstGeom prst="roundRect">
            <a:avLst>
              <a:gd fmla="val 25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10348913" y="6183660"/>
            <a:ext cx="38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10844213" y="6212235"/>
            <a:ext cx="259511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Efetivar baixa de parcela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5488989" y="6240810"/>
            <a:ext cx="10557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→ EVENTO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10167938" y="6783735"/>
            <a:ext cx="6519714" cy="66675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10387013" y="6964710"/>
            <a:ext cx="304800" cy="304800"/>
          </a:xfrm>
          <a:prstGeom prst="roundRect">
            <a:avLst>
              <a:gd fmla="val 25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10348913" y="6964710"/>
            <a:ext cx="38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10844213" y="6993285"/>
            <a:ext cx="20527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Gerar comprovante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15488989" y="7021860"/>
            <a:ext cx="10557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→ EVENTO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10167938" y="7564785"/>
            <a:ext cx="6519714" cy="66675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10387013" y="7745760"/>
            <a:ext cx="304800" cy="304800"/>
          </a:xfrm>
          <a:prstGeom prst="roundRect">
            <a:avLst>
              <a:gd fmla="val 25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10348913" y="7745760"/>
            <a:ext cx="38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10844213" y="7774335"/>
            <a:ext cx="21069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Concluir solicitação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5488989" y="7802910"/>
            <a:ext cx="10557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→ EVENTO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Custódia de Ativos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8757791" y="9705975"/>
            <a:ext cx="186317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PARA ONDE VAMOS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16580346" y="9705975"/>
            <a:ext cx="64085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10 / 14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/>
          <p:nvPr/>
        </p:nvSpPr>
        <p:spPr>
          <a:xfrm>
            <a:off x="1143000" y="952500"/>
            <a:ext cx="454670" cy="342900"/>
          </a:xfrm>
          <a:prstGeom prst="ellipse">
            <a:avLst/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1238250" y="1009650"/>
            <a:ext cx="26417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10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1750070" y="1000125"/>
            <a:ext cx="525948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PILAR 2 — CAMADA DE CONVIVÊNCIA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Evoluímos sem quebrar quem depende da gente.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1143000" y="4087713"/>
            <a:ext cx="533400" cy="533400"/>
          </a:xfrm>
          <a:prstGeom prst="roundRect">
            <a:avLst>
              <a:gd fmla="val 25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1104900" y="4087713"/>
            <a:ext cx="6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1905000" y="4163913"/>
            <a:ext cx="7255050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Mantém os contratos antigos vivos. </a:t>
            </a: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Mesmo endpoint, mesmo payload, mesma resposta para quem chama.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1143000" y="5177135"/>
            <a:ext cx="533400" cy="533400"/>
          </a:xfrm>
          <a:prstGeom prst="roundRect">
            <a:avLst>
              <a:gd fmla="val 25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1104900" y="5177135"/>
            <a:ext cx="6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1905000" y="5253335"/>
            <a:ext cx="7255050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Redireciona o tráfego para o novo. </a:t>
            </a: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Por baixo, o processamento já roda no orquestrador.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1143000" y="6266557"/>
            <a:ext cx="533400" cy="533400"/>
          </a:xfrm>
          <a:prstGeom prst="roundRect">
            <a:avLst>
              <a:gd fmla="val 25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1104900" y="6266557"/>
            <a:ext cx="6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1905000" y="6342757"/>
            <a:ext cx="7255050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Rollout gradual por consumidor. </a:t>
            </a: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Liga um, observa, liga o próximo. Sem janela coordenada.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1143000" y="7355979"/>
            <a:ext cx="533400" cy="533400"/>
          </a:xfrm>
          <a:prstGeom prst="roundRect">
            <a:avLst>
              <a:gd fmla="val 25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1104900" y="7355979"/>
            <a:ext cx="6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1905000" y="7432179"/>
            <a:ext cx="7255050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Desligamento transparente do legado. </a:t>
            </a: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Quando o último consumidor migrar, o antigo sai. Sem big bang.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9710738" y="2741563"/>
            <a:ext cx="7434114" cy="6783437"/>
          </a:xfrm>
          <a:prstGeom prst="roundRect">
            <a:avLst>
              <a:gd fmla="val 3370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10167938" y="4413052"/>
            <a:ext cx="671530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COMO O CONSUMIDOR ENXERGA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10167938" y="4841677"/>
            <a:ext cx="6519714" cy="790575"/>
          </a:xfrm>
          <a:prstGeom prst="roundRect">
            <a:avLst>
              <a:gd fmla="val 16867" name="adj"/>
            </a:avLst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10406063" y="5079802"/>
            <a:ext cx="130031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App Mobile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11781193" y="5156002"/>
            <a:ext cx="271098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POST /AMORTIZACAO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14643199" y="5079802"/>
            <a:ext cx="188252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Endpoint legado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10070142" y="5860852"/>
            <a:ext cx="671530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↓ POR BAIXO, A CONVIVÊNCIA REDIRECIONA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10167938" y="6289477"/>
            <a:ext cx="2821632" cy="1057275"/>
          </a:xfrm>
          <a:prstGeom prst="roundRect">
            <a:avLst>
              <a:gd fmla="val 12613" name="adj"/>
            </a:avLst>
          </a:prstGeom>
          <a:solidFill>
            <a:srgbClr val="FF6200">
              <a:alpha val="14901"/>
            </a:srgbClr>
          </a:solidFill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10377488" y="6537127"/>
            <a:ext cx="240253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NOVO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10377488" y="6756202"/>
            <a:ext cx="240253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Orquestrador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13103870" y="6289477"/>
            <a:ext cx="6477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nrop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||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13865870" y="6289477"/>
            <a:ext cx="2821781" cy="1057275"/>
          </a:xfrm>
          <a:prstGeom prst="roundRect">
            <a:avLst>
              <a:gd fmla="val 12613" name="adj"/>
            </a:avLst>
          </a:prstGeom>
          <a:solidFill>
            <a:srgbClr val="FFFFFF">
              <a:alpha val="5098"/>
            </a:srgbClr>
          </a:solidFill>
          <a:ln cap="flat" cmpd="sng" w="19050">
            <a:solidFill>
              <a:srgbClr val="FFFFFF">
                <a:alpha val="30196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14075420" y="6537127"/>
            <a:ext cx="24026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LEGADO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14075420" y="6756202"/>
            <a:ext cx="240268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6 projetos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10070142" y="7613452"/>
            <a:ext cx="6715305" cy="2780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Para quem chama, nada muda. Para a gente, tudo muda.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Custódia de Ativos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8776990" y="9705975"/>
            <a:ext cx="186317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PARA ONDE VAMOS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16618744" y="9705975"/>
            <a:ext cx="60245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11 / 14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"/>
          <p:cNvSpPr/>
          <p:nvPr/>
        </p:nvSpPr>
        <p:spPr>
          <a:xfrm>
            <a:off x="1143000" y="952500"/>
            <a:ext cx="419100" cy="342900"/>
          </a:xfrm>
          <a:prstGeom prst="ellipse">
            <a:avLst/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1238250" y="10096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11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1714500" y="1000125"/>
            <a:ext cx="37910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ESTRATÉGIA DE MIGRAÇÃO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Três fases. Sem janela coordenada.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1143000" y="2817763"/>
            <a:ext cx="5181600" cy="5488037"/>
          </a:xfrm>
          <a:prstGeom prst="roundRect">
            <a:avLst>
              <a:gd fmla="val 3676" name="adj"/>
            </a:avLst>
          </a:prstGeom>
          <a:solidFill>
            <a:srgbClr val="FFFFFF"/>
          </a:solidFill>
          <a:ln cap="flat" cmpd="sng" w="1905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1466850" y="3213050"/>
            <a:ext cx="133350" cy="133350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1733550" y="3179713"/>
            <a:ext cx="92526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FASE 01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1466850" y="3570238"/>
            <a:ext cx="4669917" cy="418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50"/>
              <a:buFont typeface="Manrope"/>
              <a:buNone/>
            </a:pPr>
            <a:r>
              <a:rPr b="1" i="0" lang="en-US" sz="285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Convivência ligada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1466850" y="4140696"/>
            <a:ext cx="4669917" cy="9181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Camada entra em produção. Fatia controlada do tráfego vai para o orquestrador novo. Métricas em paralelo com o legado.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6553200" y="2817763"/>
            <a:ext cx="5181600" cy="5488037"/>
          </a:xfrm>
          <a:prstGeom prst="roundRect">
            <a:avLst>
              <a:gd fmla="val 3676" name="adj"/>
            </a:avLst>
          </a:prstGeom>
          <a:solidFill>
            <a:srgbClr val="FF6200"/>
          </a:solidFill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6877050" y="3213050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7143750" y="3179713"/>
            <a:ext cx="95934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02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6877050" y="3570238"/>
            <a:ext cx="4669917" cy="7980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Manrope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Migração consumidor a consumidor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6877050" y="4520654"/>
            <a:ext cx="4669917" cy="9181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Cada consumidor migrado ganha eventos e observabilidade — sem precisar mudar o próprio código.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11963400" y="2817763"/>
            <a:ext cx="5181600" cy="5488037"/>
          </a:xfrm>
          <a:prstGeom prst="roundRect">
            <a:avLst>
              <a:gd fmla="val 3676" name="adj"/>
            </a:avLst>
          </a:prstGeom>
          <a:solidFill>
            <a:srgbClr val="FFFFFF"/>
          </a:solidFill>
          <a:ln cap="flat" cmpd="sng" w="1905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12287250" y="3213050"/>
            <a:ext cx="133350" cy="133350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12553950" y="3179713"/>
            <a:ext cx="9620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FASE 03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12287250" y="3570238"/>
            <a:ext cx="4669917" cy="418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50"/>
              <a:buFont typeface="Manrope"/>
              <a:buNone/>
            </a:pPr>
            <a:r>
              <a:rPr b="1" i="0" lang="en-US" sz="285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Desligamento do legado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12287250" y="4140696"/>
            <a:ext cx="4669917" cy="6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Quando o último consumidor estiver no novo, o sistema antigo é desligado. Sem big bang.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1143000" y="8572500"/>
            <a:ext cx="160020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1143000" y="8820150"/>
            <a:ext cx="205606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MARCO 01 · MVP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1143000" y="9058275"/>
            <a:ext cx="2056061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2700"/>
              <a:buFont typeface="Manrope"/>
              <a:buNone/>
            </a:pPr>
            <a:r>
              <a:rPr b="1" i="0" lang="en-US" sz="27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Julho </a:t>
            </a:r>
            <a:r>
              <a:rPr b="1" i="0" lang="en-US" sz="27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/ 2026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3694361" y="8820150"/>
            <a:ext cx="462898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MARCO 02 · PRIMEIRA ONDA DE MIGRAÇÃO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3694361" y="9058275"/>
            <a:ext cx="462898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2700"/>
              <a:buFont typeface="Manrope"/>
              <a:buNone/>
            </a:pPr>
            <a:r>
              <a:rPr b="1" i="0" lang="en-US" sz="27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Agosto </a:t>
            </a:r>
            <a:r>
              <a:rPr b="1" i="0" lang="en-US" sz="27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/ 2026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Custódia de Ativos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8662541" y="9705975"/>
            <a:ext cx="20574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COMO CHEGAMOS LÁ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16583918" y="9705975"/>
            <a:ext cx="63728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12 / 14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3"/>
          <p:cNvSpPr/>
          <p:nvPr/>
        </p:nvSpPr>
        <p:spPr>
          <a:xfrm>
            <a:off x="1143000" y="952500"/>
            <a:ext cx="443954" cy="342900"/>
          </a:xfrm>
          <a:prstGeom prst="ellipse">
            <a:avLst/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1238250" y="1009650"/>
            <a:ext cx="25345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12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1739354" y="1000125"/>
            <a:ext cx="31794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AI COMO ACELERADOR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Devin entrou no time.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1143000" y="2512963"/>
            <a:ext cx="12753975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Agente autônomo de engenharia de software — não autocomplete, mas par que executa de ponta a ponta.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1143000" y="5110311"/>
            <a:ext cx="8395841" cy="952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1143000" y="4173289"/>
            <a:ext cx="381000" cy="411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1638300" y="4173289"/>
            <a:ext cx="8137557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Lê o repositório </a:t>
            </a: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e entende a estrutura do projeto antes de mexer.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1143000" y="5912197"/>
            <a:ext cx="8395841" cy="952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1143000" y="5348436"/>
            <a:ext cx="381000" cy="411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1638300" y="5348436"/>
            <a:ext cx="8137557" cy="411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Implementa funcionalidade </a:t>
            </a: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e escreve testes.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1143000" y="6714083"/>
            <a:ext cx="8395841" cy="952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1143000" y="6150322"/>
            <a:ext cx="381000" cy="411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1638300" y="6150322"/>
            <a:ext cx="8137557" cy="411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Abre PR </a:t>
            </a: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com a tarefa fechada. O time revisa e aprova.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1143000" y="6952208"/>
            <a:ext cx="381000" cy="411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1638300" y="6952208"/>
            <a:ext cx="8137557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Libera o time </a:t>
            </a: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para decisão de design, regra de negócio e revisão.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10148441" y="4351139"/>
            <a:ext cx="6996410" cy="3360241"/>
          </a:xfrm>
          <a:prstGeom prst="roundRect">
            <a:avLst>
              <a:gd fmla="val 6803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10605641" y="4884539"/>
            <a:ext cx="626447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2000"/>
              <a:buFont typeface="Manrope"/>
              <a:buNone/>
            </a:pPr>
            <a:r>
              <a:rPr b="1" lang="en-US" sz="12000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97</a:t>
            </a:r>
            <a:r>
              <a:rPr b="1" i="0" lang="en-US" sz="60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%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10605641" y="6484739"/>
            <a:ext cx="626447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 código do </a:t>
            </a:r>
            <a:r>
              <a:rPr b="1" i="0" lang="en-US" sz="19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MVP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entregue por Devin. Sem ele, teríamos levado </a:t>
            </a:r>
            <a:r>
              <a:rPr b="1" i="0" lang="en-US" sz="19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3×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mais tempo.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1143000" y="8696325"/>
            <a:ext cx="16002000" cy="828675"/>
          </a:xfrm>
          <a:prstGeom prst="roundRect">
            <a:avLst>
              <a:gd fmla="val 18391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1245870" y="8924925"/>
            <a:ext cx="1579626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highlight>
                  <a:srgbClr val="1A1A1A"/>
                </a:highlight>
                <a:latin typeface="Manrope"/>
                <a:ea typeface="Manrope"/>
                <a:cs typeface="Manrope"/>
                <a:sym typeface="Manrope"/>
              </a:rPr>
              <a:t>AI não substituiu engenheiros — </a:t>
            </a:r>
            <a:r>
              <a:rPr b="1" i="0" lang="en-US" sz="22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encurtou o caminho do desenho ao código.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Custódia de Ativos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8661797" y="9705975"/>
            <a:ext cx="20574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COMO CHEGAMOS LÁ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16582579" y="9705975"/>
            <a:ext cx="63862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13 / 14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bbabf6fc9_0_0"/>
          <p:cNvSpPr/>
          <p:nvPr/>
        </p:nvSpPr>
        <p:spPr>
          <a:xfrm>
            <a:off x="952500" y="1771650"/>
            <a:ext cx="38100" cy="571500"/>
          </a:xfrm>
          <a:prstGeom prst="roundRect">
            <a:avLst>
              <a:gd fmla="val 50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dbbabf6fc9_0_0"/>
          <p:cNvSpPr/>
          <p:nvPr/>
        </p:nvSpPr>
        <p:spPr>
          <a:xfrm>
            <a:off x="1333500" y="1771650"/>
            <a:ext cx="7991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b="1" i="0" lang="en-US" sz="3000" u="none" cap="none" strike="noStrike">
                <a:solidFill>
                  <a:srgbClr val="FF6200"/>
                </a:solidFill>
                <a:latin typeface="Arial"/>
                <a:ea typeface="Arial"/>
                <a:cs typeface="Arial"/>
                <a:sym typeface="Arial"/>
              </a:rPr>
              <a:t>Agent </a:t>
            </a:r>
            <a:r>
              <a:rPr b="1" i="0" lang="en-US" sz="3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é um modelo de AI que </a:t>
            </a:r>
            <a:r>
              <a:rPr b="1" i="0" lang="en-US" sz="3000" u="none" cap="none" strike="noStrike">
                <a:solidFill>
                  <a:srgbClr val="FF6200"/>
                </a:solidFill>
                <a:latin typeface="Arial"/>
                <a:ea typeface="Arial"/>
                <a:cs typeface="Arial"/>
                <a:sym typeface="Arial"/>
              </a:rPr>
              <a:t>age </a:t>
            </a:r>
            <a:r>
              <a:rPr b="1" i="0" lang="en-US" sz="3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— percebe contexto, decide e executa tarefas de ponta a ponta, sem intervenção humana.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dbbabf6fc9_0_0"/>
          <p:cNvSpPr/>
          <p:nvPr/>
        </p:nvSpPr>
        <p:spPr>
          <a:xfrm>
            <a:off x="952425" y="4518825"/>
            <a:ext cx="3867300" cy="3192600"/>
          </a:xfrm>
          <a:prstGeom prst="roundRect">
            <a:avLst>
              <a:gd fmla="val 1193" name="adj"/>
            </a:avLst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dbbabf6fc9_0_0"/>
          <p:cNvSpPr/>
          <p:nvPr/>
        </p:nvSpPr>
        <p:spPr>
          <a:xfrm>
            <a:off x="952425" y="4518825"/>
            <a:ext cx="3867300" cy="28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dbbabf6fc9_0_0"/>
          <p:cNvSpPr/>
          <p:nvPr/>
        </p:nvSpPr>
        <p:spPr>
          <a:xfrm>
            <a:off x="1371525" y="5004600"/>
            <a:ext cx="311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dbbabf6fc9_0_0"/>
          <p:cNvSpPr/>
          <p:nvPr/>
        </p:nvSpPr>
        <p:spPr>
          <a:xfrm>
            <a:off x="1371525" y="5347500"/>
            <a:ext cx="31197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Percebe o contexto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dbbabf6fc9_0_0"/>
          <p:cNvSpPr/>
          <p:nvPr/>
        </p:nvSpPr>
        <p:spPr>
          <a:xfrm>
            <a:off x="1371525" y="5806486"/>
            <a:ext cx="3119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Lê repositórios, issues, logs e documentação. Entende o estado do projeto antes de agir.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dbbabf6fc9_0_0"/>
          <p:cNvSpPr/>
          <p:nvPr/>
        </p:nvSpPr>
        <p:spPr>
          <a:xfrm>
            <a:off x="1371525" y="6987586"/>
            <a:ext cx="723900" cy="266700"/>
          </a:xfrm>
          <a:prstGeom prst="roundRect">
            <a:avLst>
              <a:gd fmla="val 7143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dbbabf6fc9_0_0"/>
          <p:cNvSpPr/>
          <p:nvPr/>
        </p:nvSpPr>
        <p:spPr>
          <a:xfrm>
            <a:off x="1504875" y="7044736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dbbabf6fc9_0_0"/>
          <p:cNvSpPr/>
          <p:nvPr/>
        </p:nvSpPr>
        <p:spPr>
          <a:xfrm>
            <a:off x="5124375" y="4518825"/>
            <a:ext cx="3867300" cy="3192600"/>
          </a:xfrm>
          <a:prstGeom prst="roundRect">
            <a:avLst>
              <a:gd fmla="val 1193" name="adj"/>
            </a:avLst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dbbabf6fc9_0_0"/>
          <p:cNvSpPr/>
          <p:nvPr/>
        </p:nvSpPr>
        <p:spPr>
          <a:xfrm>
            <a:off x="5124375" y="4518825"/>
            <a:ext cx="3867300" cy="28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dbbabf6fc9_0_0"/>
          <p:cNvSpPr/>
          <p:nvPr/>
        </p:nvSpPr>
        <p:spPr>
          <a:xfrm>
            <a:off x="5543475" y="5004600"/>
            <a:ext cx="311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dbbabf6fc9_0_0"/>
          <p:cNvSpPr/>
          <p:nvPr/>
        </p:nvSpPr>
        <p:spPr>
          <a:xfrm>
            <a:off x="5543475" y="5347500"/>
            <a:ext cx="31197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Decide e planeja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dbbabf6fc9_0_0"/>
          <p:cNvSpPr/>
          <p:nvPr/>
        </p:nvSpPr>
        <p:spPr>
          <a:xfrm>
            <a:off x="5543475" y="5806486"/>
            <a:ext cx="3119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Quebra tarefas complexas em passos. Define qual Skills invocar e em qual ordem.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dbbabf6fc9_0_0"/>
          <p:cNvSpPr/>
          <p:nvPr/>
        </p:nvSpPr>
        <p:spPr>
          <a:xfrm>
            <a:off x="5543475" y="6987586"/>
            <a:ext cx="1156500" cy="266700"/>
          </a:xfrm>
          <a:prstGeom prst="roundRect">
            <a:avLst>
              <a:gd fmla="val 7143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dbbabf6fc9_0_0"/>
          <p:cNvSpPr/>
          <p:nvPr/>
        </p:nvSpPr>
        <p:spPr>
          <a:xfrm>
            <a:off x="5676825" y="7044736"/>
            <a:ext cx="966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RACIOCÍNIO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dbbabf6fc9_0_0"/>
          <p:cNvSpPr/>
          <p:nvPr/>
        </p:nvSpPr>
        <p:spPr>
          <a:xfrm>
            <a:off x="9296325" y="4518825"/>
            <a:ext cx="3867300" cy="3192600"/>
          </a:xfrm>
          <a:prstGeom prst="roundRect">
            <a:avLst>
              <a:gd fmla="val 1193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dbbabf6fc9_0_0"/>
          <p:cNvSpPr/>
          <p:nvPr/>
        </p:nvSpPr>
        <p:spPr>
          <a:xfrm>
            <a:off x="9296325" y="4518825"/>
            <a:ext cx="3867300" cy="28500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dbbabf6fc9_0_0"/>
          <p:cNvSpPr/>
          <p:nvPr/>
        </p:nvSpPr>
        <p:spPr>
          <a:xfrm>
            <a:off x="9715425" y="5004600"/>
            <a:ext cx="311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dbbabf6fc9_0_0"/>
          <p:cNvSpPr/>
          <p:nvPr/>
        </p:nvSpPr>
        <p:spPr>
          <a:xfrm>
            <a:off x="9715425" y="5347500"/>
            <a:ext cx="31197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Executa e entrega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dbbabf6fc9_0_0"/>
          <p:cNvSpPr/>
          <p:nvPr/>
        </p:nvSpPr>
        <p:spPr>
          <a:xfrm>
            <a:off x="9715425" y="5806486"/>
            <a:ext cx="3119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Escreve código, roda testes, abre PRs. Fecha o ciclo — do pedido ao resultado.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dbbabf6fc9_0_0"/>
          <p:cNvSpPr/>
          <p:nvPr/>
        </p:nvSpPr>
        <p:spPr>
          <a:xfrm>
            <a:off x="9715425" y="6987586"/>
            <a:ext cx="878100" cy="266700"/>
          </a:xfrm>
          <a:prstGeom prst="roundRect">
            <a:avLst>
              <a:gd fmla="val 7143" name="adj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dbbabf6fc9_0_0"/>
          <p:cNvSpPr/>
          <p:nvPr/>
        </p:nvSpPr>
        <p:spPr>
          <a:xfrm>
            <a:off x="9848775" y="7044736"/>
            <a:ext cx="68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dbbabf6fc9_0_0"/>
          <p:cNvSpPr/>
          <p:nvPr/>
        </p:nvSpPr>
        <p:spPr>
          <a:xfrm>
            <a:off x="13468275" y="4518825"/>
            <a:ext cx="3867300" cy="3192600"/>
          </a:xfrm>
          <a:prstGeom prst="roundRect">
            <a:avLst>
              <a:gd fmla="val 1193" name="adj"/>
            </a:avLst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dbbabf6fc9_0_0"/>
          <p:cNvSpPr/>
          <p:nvPr/>
        </p:nvSpPr>
        <p:spPr>
          <a:xfrm>
            <a:off x="13468275" y="4518825"/>
            <a:ext cx="3867300" cy="28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dbbabf6fc9_0_0"/>
          <p:cNvSpPr/>
          <p:nvPr/>
        </p:nvSpPr>
        <p:spPr>
          <a:xfrm>
            <a:off x="13887375" y="5004600"/>
            <a:ext cx="311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dbbabf6fc9_0_0"/>
          <p:cNvSpPr/>
          <p:nvPr/>
        </p:nvSpPr>
        <p:spPr>
          <a:xfrm>
            <a:off x="13887375" y="5347500"/>
            <a:ext cx="31197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Aprende na iteração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dbbabf6fc9_0_0"/>
          <p:cNvSpPr/>
          <p:nvPr/>
        </p:nvSpPr>
        <p:spPr>
          <a:xfrm>
            <a:off x="13887375" y="5806486"/>
            <a:ext cx="3119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Ajusta a abordagem com base em feedback do código, CI e revisão humana.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dbbabf6fc9_0_0"/>
          <p:cNvSpPr/>
          <p:nvPr/>
        </p:nvSpPr>
        <p:spPr>
          <a:xfrm>
            <a:off x="13887375" y="6987586"/>
            <a:ext cx="720900" cy="266700"/>
          </a:xfrm>
          <a:prstGeom prst="roundRect">
            <a:avLst>
              <a:gd fmla="val 7143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dbbabf6fc9_0_0"/>
          <p:cNvSpPr/>
          <p:nvPr/>
        </p:nvSpPr>
        <p:spPr>
          <a:xfrm>
            <a:off x="14020725" y="7044736"/>
            <a:ext cx="53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CICLO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3dbbabf6fc9_0_0"/>
          <p:cNvSpPr/>
          <p:nvPr/>
        </p:nvSpPr>
        <p:spPr>
          <a:xfrm>
            <a:off x="952500" y="9324975"/>
            <a:ext cx="16383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dbbabf6fc9_0_0"/>
          <p:cNvSpPr/>
          <p:nvPr/>
        </p:nvSpPr>
        <p:spPr>
          <a:xfrm>
            <a:off x="952500" y="9591675"/>
            <a:ext cx="2291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CUSTÓDIA DE ATIVOS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dbbabf6fc9_0_0"/>
          <p:cNvSpPr/>
          <p:nvPr/>
        </p:nvSpPr>
        <p:spPr>
          <a:xfrm>
            <a:off x="14477256" y="9591675"/>
            <a:ext cx="2057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PARA ONDE VAMOS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dbbabf6fc9_0_0"/>
          <p:cNvSpPr/>
          <p:nvPr/>
        </p:nvSpPr>
        <p:spPr>
          <a:xfrm>
            <a:off x="16762809" y="9591675"/>
            <a:ext cx="64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13 / 16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dbbabf6fc9_0_0"/>
          <p:cNvSpPr/>
          <p:nvPr/>
        </p:nvSpPr>
        <p:spPr>
          <a:xfrm>
            <a:off x="1333500" y="948600"/>
            <a:ext cx="444000" cy="342900"/>
          </a:xfrm>
          <a:prstGeom prst="ellipse">
            <a:avLst/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dbbabf6fc9_0_0"/>
          <p:cNvSpPr/>
          <p:nvPr/>
        </p:nvSpPr>
        <p:spPr>
          <a:xfrm>
            <a:off x="1428750" y="996300"/>
            <a:ext cx="25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12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dbbabf6fc9_0_0"/>
          <p:cNvSpPr/>
          <p:nvPr/>
        </p:nvSpPr>
        <p:spPr>
          <a:xfrm>
            <a:off x="1872629" y="977100"/>
            <a:ext cx="3179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AI COMO ACELERADOR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bbabf6fc9_0_4"/>
          <p:cNvSpPr/>
          <p:nvPr/>
        </p:nvSpPr>
        <p:spPr>
          <a:xfrm>
            <a:off x="956025" y="2190475"/>
            <a:ext cx="38100" cy="571500"/>
          </a:xfrm>
          <a:prstGeom prst="roundRect">
            <a:avLst>
              <a:gd fmla="val 5000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dbbabf6fc9_0_4"/>
          <p:cNvSpPr/>
          <p:nvPr/>
        </p:nvSpPr>
        <p:spPr>
          <a:xfrm>
            <a:off x="1337025" y="2152375"/>
            <a:ext cx="79593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i="0" lang="en-US" sz="3000" u="none" cap="none" strike="noStrike">
                <a:solidFill>
                  <a:srgbClr val="FF6200"/>
                </a:solidFill>
                <a:latin typeface="Arial"/>
                <a:ea typeface="Arial"/>
                <a:cs typeface="Arial"/>
                <a:sym typeface="Arial"/>
              </a:rPr>
              <a:t>Skill </a:t>
            </a:r>
            <a:r>
              <a:rPr b="1" i="0" lang="en-US" sz="3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é uma capacidade </a:t>
            </a:r>
            <a:r>
              <a:rPr b="1" i="0" lang="en-US" sz="3000" u="none" cap="none" strike="noStrike">
                <a:solidFill>
                  <a:srgbClr val="FF6200"/>
                </a:solidFill>
                <a:latin typeface="Arial"/>
                <a:ea typeface="Arial"/>
                <a:cs typeface="Arial"/>
                <a:sym typeface="Arial"/>
              </a:rPr>
              <a:t>atômica </a:t>
            </a:r>
            <a:r>
              <a:rPr b="1" i="0" lang="en-US" sz="3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— faz uma coisa só, com input e output claros, invocada pelo Agent quando necessário.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dbbabf6fc9_0_4"/>
          <p:cNvSpPr/>
          <p:nvPr/>
        </p:nvSpPr>
        <p:spPr>
          <a:xfrm>
            <a:off x="952425" y="5040375"/>
            <a:ext cx="3867300" cy="3497400"/>
          </a:xfrm>
          <a:prstGeom prst="roundRect">
            <a:avLst>
              <a:gd fmla="val 1089" name="adj"/>
            </a:avLst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dbbabf6fc9_0_4"/>
          <p:cNvSpPr/>
          <p:nvPr/>
        </p:nvSpPr>
        <p:spPr>
          <a:xfrm>
            <a:off x="952425" y="5040375"/>
            <a:ext cx="3867300" cy="28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dbbabf6fc9_0_4"/>
          <p:cNvSpPr/>
          <p:nvPr/>
        </p:nvSpPr>
        <p:spPr>
          <a:xfrm>
            <a:off x="1371525" y="5526150"/>
            <a:ext cx="311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dbbabf6fc9_0_4"/>
          <p:cNvSpPr/>
          <p:nvPr/>
        </p:nvSpPr>
        <p:spPr>
          <a:xfrm>
            <a:off x="1371525" y="5869050"/>
            <a:ext cx="31197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Ler repositório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dbbabf6fc9_0_4"/>
          <p:cNvSpPr/>
          <p:nvPr/>
        </p:nvSpPr>
        <p:spPr>
          <a:xfrm>
            <a:off x="1371525" y="6328036"/>
            <a:ext cx="3119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Varre a base de código, entende estrutura de pastas, dependências e padrões adotados no projeto.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dbbabf6fc9_0_4"/>
          <p:cNvSpPr/>
          <p:nvPr/>
        </p:nvSpPr>
        <p:spPr>
          <a:xfrm>
            <a:off x="1371525" y="7509136"/>
            <a:ext cx="1085700" cy="266700"/>
          </a:xfrm>
          <a:prstGeom prst="roundRect">
            <a:avLst>
              <a:gd fmla="val 7143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dbbabf6fc9_0_4"/>
          <p:cNvSpPr/>
          <p:nvPr/>
        </p:nvSpPr>
        <p:spPr>
          <a:xfrm>
            <a:off x="1504875" y="7566286"/>
            <a:ext cx="895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dbbabf6fc9_0_4"/>
          <p:cNvSpPr/>
          <p:nvPr/>
        </p:nvSpPr>
        <p:spPr>
          <a:xfrm>
            <a:off x="5124375" y="5040375"/>
            <a:ext cx="3867300" cy="3497400"/>
          </a:xfrm>
          <a:prstGeom prst="roundRect">
            <a:avLst>
              <a:gd fmla="val 1089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dbbabf6fc9_0_4"/>
          <p:cNvSpPr/>
          <p:nvPr/>
        </p:nvSpPr>
        <p:spPr>
          <a:xfrm>
            <a:off x="5124375" y="5040375"/>
            <a:ext cx="3867300" cy="28500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dbbabf6fc9_0_4"/>
          <p:cNvSpPr/>
          <p:nvPr/>
        </p:nvSpPr>
        <p:spPr>
          <a:xfrm>
            <a:off x="5543475" y="5526150"/>
            <a:ext cx="311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dbbabf6fc9_0_4"/>
          <p:cNvSpPr/>
          <p:nvPr/>
        </p:nvSpPr>
        <p:spPr>
          <a:xfrm>
            <a:off x="5543475" y="5869050"/>
            <a:ext cx="31197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Implementar código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dbbabf6fc9_0_4"/>
          <p:cNvSpPr/>
          <p:nvPr/>
        </p:nvSpPr>
        <p:spPr>
          <a:xfrm>
            <a:off x="5543475" y="6328036"/>
            <a:ext cx="31197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Escreve funções, classes e módulos seguindo os padrões do repositório. Cobre com testes automaticamente.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dbbabf6fc9_0_4"/>
          <p:cNvSpPr/>
          <p:nvPr/>
        </p:nvSpPr>
        <p:spPr>
          <a:xfrm>
            <a:off x="5543475" y="7813936"/>
            <a:ext cx="1080600" cy="266700"/>
          </a:xfrm>
          <a:prstGeom prst="roundRect">
            <a:avLst>
              <a:gd fmla="val 7143" name="adj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dbbabf6fc9_0_4"/>
          <p:cNvSpPr/>
          <p:nvPr/>
        </p:nvSpPr>
        <p:spPr>
          <a:xfrm>
            <a:off x="5676825" y="7871086"/>
            <a:ext cx="89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EXECUÇÃO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dbbabf6fc9_0_4"/>
          <p:cNvSpPr/>
          <p:nvPr/>
        </p:nvSpPr>
        <p:spPr>
          <a:xfrm>
            <a:off x="9296325" y="5040375"/>
            <a:ext cx="3867300" cy="3497400"/>
          </a:xfrm>
          <a:prstGeom prst="roundRect">
            <a:avLst>
              <a:gd fmla="val 1089" name="adj"/>
            </a:avLst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dbbabf6fc9_0_4"/>
          <p:cNvSpPr/>
          <p:nvPr/>
        </p:nvSpPr>
        <p:spPr>
          <a:xfrm>
            <a:off x="9296325" y="5040375"/>
            <a:ext cx="3867300" cy="28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dbbabf6fc9_0_4"/>
          <p:cNvSpPr/>
          <p:nvPr/>
        </p:nvSpPr>
        <p:spPr>
          <a:xfrm>
            <a:off x="9715425" y="5526150"/>
            <a:ext cx="311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dbbabf6fc9_0_4"/>
          <p:cNvSpPr/>
          <p:nvPr/>
        </p:nvSpPr>
        <p:spPr>
          <a:xfrm>
            <a:off x="9715425" y="5869050"/>
            <a:ext cx="31197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Rodar testes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dbbabf6fc9_0_4"/>
          <p:cNvSpPr/>
          <p:nvPr/>
        </p:nvSpPr>
        <p:spPr>
          <a:xfrm>
            <a:off x="9715425" y="6328036"/>
            <a:ext cx="31197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Executa a suite de testes, interpreta falhas e reporta o resultado para o Agent decidir o próximo passo.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dbbabf6fc9_0_4"/>
          <p:cNvSpPr/>
          <p:nvPr/>
        </p:nvSpPr>
        <p:spPr>
          <a:xfrm>
            <a:off x="9715425" y="7813936"/>
            <a:ext cx="1122900" cy="266700"/>
          </a:xfrm>
          <a:prstGeom prst="roundRect">
            <a:avLst>
              <a:gd fmla="val 7143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dbbabf6fc9_0_4"/>
          <p:cNvSpPr/>
          <p:nvPr/>
        </p:nvSpPr>
        <p:spPr>
          <a:xfrm>
            <a:off x="9848775" y="7871086"/>
            <a:ext cx="93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VALIDAÇÃO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dbbabf6fc9_0_4"/>
          <p:cNvSpPr/>
          <p:nvPr/>
        </p:nvSpPr>
        <p:spPr>
          <a:xfrm>
            <a:off x="13468275" y="5040375"/>
            <a:ext cx="3867300" cy="3497400"/>
          </a:xfrm>
          <a:prstGeom prst="roundRect">
            <a:avLst>
              <a:gd fmla="val 1089" name="adj"/>
            </a:avLst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dbbabf6fc9_0_4"/>
          <p:cNvSpPr/>
          <p:nvPr/>
        </p:nvSpPr>
        <p:spPr>
          <a:xfrm>
            <a:off x="13468275" y="5040375"/>
            <a:ext cx="3867300" cy="28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dbbabf6fc9_0_4"/>
          <p:cNvSpPr/>
          <p:nvPr/>
        </p:nvSpPr>
        <p:spPr>
          <a:xfrm>
            <a:off x="13887375" y="5526150"/>
            <a:ext cx="311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dbbabf6fc9_0_4"/>
          <p:cNvSpPr/>
          <p:nvPr/>
        </p:nvSpPr>
        <p:spPr>
          <a:xfrm>
            <a:off x="13887375" y="5869050"/>
            <a:ext cx="31197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Abrir Pull Request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dbbabf6fc9_0_4"/>
          <p:cNvSpPr/>
          <p:nvPr/>
        </p:nvSpPr>
        <p:spPr>
          <a:xfrm>
            <a:off x="13887375" y="6328036"/>
            <a:ext cx="31197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Cria branch, commita as mudanças, abre o PR com descrição da tarefa. O time revisa e aprova.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dbbabf6fc9_0_4"/>
          <p:cNvSpPr/>
          <p:nvPr/>
        </p:nvSpPr>
        <p:spPr>
          <a:xfrm>
            <a:off x="13887375" y="7813936"/>
            <a:ext cx="960900" cy="266700"/>
          </a:xfrm>
          <a:prstGeom prst="roundRect">
            <a:avLst>
              <a:gd fmla="val 7143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dbbabf6fc9_0_4"/>
          <p:cNvSpPr/>
          <p:nvPr/>
        </p:nvSpPr>
        <p:spPr>
          <a:xfrm>
            <a:off x="14020725" y="7871086"/>
            <a:ext cx="77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dbbabf6fc9_0_4"/>
          <p:cNvSpPr/>
          <p:nvPr/>
        </p:nvSpPr>
        <p:spPr>
          <a:xfrm>
            <a:off x="1428750" y="996300"/>
            <a:ext cx="25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12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dbbabf6fc9_0_4"/>
          <p:cNvSpPr/>
          <p:nvPr/>
        </p:nvSpPr>
        <p:spPr>
          <a:xfrm>
            <a:off x="1872629" y="977100"/>
            <a:ext cx="3179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AI COMO ACELERADOR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dbbabf6fc9_0_4"/>
          <p:cNvSpPr/>
          <p:nvPr/>
        </p:nvSpPr>
        <p:spPr>
          <a:xfrm>
            <a:off x="1333500" y="948600"/>
            <a:ext cx="444000" cy="342900"/>
          </a:xfrm>
          <a:prstGeom prst="ellipse">
            <a:avLst/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dbbabf6fc9_0_81"/>
          <p:cNvSpPr/>
          <p:nvPr/>
        </p:nvSpPr>
        <p:spPr>
          <a:xfrm>
            <a:off x="963575" y="2641100"/>
            <a:ext cx="168744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Agent </a:t>
            </a:r>
            <a:r>
              <a:rPr b="1" i="0" lang="en-US" sz="4200" u="none" cap="none" strike="noStrike">
                <a:solidFill>
                  <a:srgbClr val="FF620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b="1" i="0" lang="en-US" sz="4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Skill</a:t>
            </a:r>
            <a:endParaRPr b="0" i="0" sz="4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dbbabf6fc9_0_81"/>
          <p:cNvSpPr/>
          <p:nvPr/>
        </p:nvSpPr>
        <p:spPr>
          <a:xfrm>
            <a:off x="963575" y="3323030"/>
            <a:ext cx="16874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Papéis distintos, propósitos complementares.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dbbabf6fc9_0_81"/>
          <p:cNvSpPr/>
          <p:nvPr/>
        </p:nvSpPr>
        <p:spPr>
          <a:xfrm>
            <a:off x="963575" y="3913580"/>
            <a:ext cx="8177100" cy="4291800"/>
          </a:xfrm>
          <a:prstGeom prst="roundRect">
            <a:avLst>
              <a:gd fmla="val 888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dbbabf6fc9_0_81"/>
          <p:cNvSpPr/>
          <p:nvPr/>
        </p:nvSpPr>
        <p:spPr>
          <a:xfrm>
            <a:off x="1420775" y="4349796"/>
            <a:ext cx="419100" cy="419100"/>
          </a:xfrm>
          <a:prstGeom prst="roundRect">
            <a:avLst>
              <a:gd fmla="val 9091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7" name="Google Shape;497;g3dbbabf6fc9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550" y="445457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g3dbbabf6fc9_0_81"/>
          <p:cNvSpPr/>
          <p:nvPr/>
        </p:nvSpPr>
        <p:spPr>
          <a:xfrm>
            <a:off x="1992275" y="4294580"/>
            <a:ext cx="109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QUEM AGE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dbbabf6fc9_0_81"/>
          <p:cNvSpPr/>
          <p:nvPr/>
        </p:nvSpPr>
        <p:spPr>
          <a:xfrm>
            <a:off x="1992275" y="4446980"/>
            <a:ext cx="1098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dbbabf6fc9_0_81"/>
          <p:cNvSpPr/>
          <p:nvPr/>
        </p:nvSpPr>
        <p:spPr>
          <a:xfrm>
            <a:off x="1420775" y="5948061"/>
            <a:ext cx="7262700" cy="96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dbbabf6fc9_0_81"/>
          <p:cNvSpPr/>
          <p:nvPr/>
        </p:nvSpPr>
        <p:spPr>
          <a:xfrm>
            <a:off x="1420775" y="5090811"/>
            <a:ext cx="74808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Entidade autônoma com objetivo, memória e capacidade de decisão. Orquestra ferramentas e skills para completar uma tarefa de ponta a ponta.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dbbabf6fc9_0_81"/>
          <p:cNvSpPr/>
          <p:nvPr/>
        </p:nvSpPr>
        <p:spPr>
          <a:xfrm>
            <a:off x="1420775" y="6300486"/>
            <a:ext cx="76200" cy="76200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dbbabf6fc9_0_81"/>
          <p:cNvSpPr/>
          <p:nvPr/>
        </p:nvSpPr>
        <p:spPr>
          <a:xfrm>
            <a:off x="1649375" y="6224286"/>
            <a:ext cx="5913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 objetivo: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recebe uma tarefa e sabe o que "concluído" significa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dbbabf6fc9_0_81"/>
          <p:cNvSpPr/>
          <p:nvPr/>
        </p:nvSpPr>
        <p:spPr>
          <a:xfrm>
            <a:off x="1420775" y="6738636"/>
            <a:ext cx="76200" cy="76200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dbbabf6fc9_0_81"/>
          <p:cNvSpPr/>
          <p:nvPr/>
        </p:nvSpPr>
        <p:spPr>
          <a:xfrm>
            <a:off x="1649375" y="6662436"/>
            <a:ext cx="5026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 memória: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mantém contexto entre passos e sessões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dbbabf6fc9_0_81"/>
          <p:cNvSpPr/>
          <p:nvPr/>
        </p:nvSpPr>
        <p:spPr>
          <a:xfrm>
            <a:off x="1420775" y="7176786"/>
            <a:ext cx="76200" cy="76200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dbbabf6fc9_0_81"/>
          <p:cNvSpPr/>
          <p:nvPr/>
        </p:nvSpPr>
        <p:spPr>
          <a:xfrm>
            <a:off x="1649375" y="7100586"/>
            <a:ext cx="4628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Decide: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escolhe quais skills invocar e em que ordem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dbbabf6fc9_0_81"/>
          <p:cNvSpPr/>
          <p:nvPr/>
        </p:nvSpPr>
        <p:spPr>
          <a:xfrm>
            <a:off x="1420775" y="7614936"/>
            <a:ext cx="76200" cy="76200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dbbabf6fc9_0_81"/>
          <p:cNvSpPr/>
          <p:nvPr/>
        </p:nvSpPr>
        <p:spPr>
          <a:xfrm>
            <a:off x="1649375" y="7538736"/>
            <a:ext cx="5057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Responde ao feedback: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ajusta a estratégia se algo falha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dbbabf6fc9_0_81"/>
          <p:cNvSpPr/>
          <p:nvPr/>
        </p:nvSpPr>
        <p:spPr>
          <a:xfrm>
            <a:off x="9140788" y="3913580"/>
            <a:ext cx="19200" cy="4291800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dbbabf6fc9_0_81"/>
          <p:cNvSpPr/>
          <p:nvPr/>
        </p:nvSpPr>
        <p:spPr>
          <a:xfrm>
            <a:off x="8845513" y="5754733"/>
            <a:ext cx="609600" cy="609600"/>
          </a:xfrm>
          <a:prstGeom prst="ellipse">
            <a:avLst/>
          </a:prstGeom>
          <a:solidFill>
            <a:srgbClr val="FF6200"/>
          </a:solidFill>
          <a:ln>
            <a:noFill/>
          </a:ln>
          <a:effectLst>
            <a:outerShdw blurRad="101600" rotWithShape="0" algn="bl" dir="16200000" dist="50800">
              <a:srgbClr val="FFFFF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dbbabf6fc9_0_81"/>
          <p:cNvSpPr/>
          <p:nvPr/>
        </p:nvSpPr>
        <p:spPr>
          <a:xfrm>
            <a:off x="9159838" y="3913580"/>
            <a:ext cx="8186700" cy="42918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dbbabf6fc9_0_81"/>
          <p:cNvSpPr/>
          <p:nvPr/>
        </p:nvSpPr>
        <p:spPr>
          <a:xfrm>
            <a:off x="9159838" y="3913580"/>
            <a:ext cx="9600" cy="42918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dbbabf6fc9_0_81"/>
          <p:cNvSpPr/>
          <p:nvPr/>
        </p:nvSpPr>
        <p:spPr>
          <a:xfrm>
            <a:off x="9626563" y="4349796"/>
            <a:ext cx="419100" cy="419100"/>
          </a:xfrm>
          <a:prstGeom prst="roundRect">
            <a:avLst>
              <a:gd fmla="val 9091" name="adj"/>
            </a:avLst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5" name="Google Shape;515;g3dbbabf6fc9_0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1338" y="445457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g3dbbabf6fc9_0_81"/>
          <p:cNvSpPr/>
          <p:nvPr/>
        </p:nvSpPr>
        <p:spPr>
          <a:xfrm>
            <a:off x="10198063" y="4294580"/>
            <a:ext cx="132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O QUE EXECUTA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dbbabf6fc9_0_81"/>
          <p:cNvSpPr/>
          <p:nvPr/>
        </p:nvSpPr>
        <p:spPr>
          <a:xfrm>
            <a:off x="10198063" y="4446980"/>
            <a:ext cx="13221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Skill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dbbabf6fc9_0_81"/>
          <p:cNvSpPr/>
          <p:nvPr/>
        </p:nvSpPr>
        <p:spPr>
          <a:xfrm>
            <a:off x="9626563" y="5948061"/>
            <a:ext cx="72627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dbbabf6fc9_0_81"/>
          <p:cNvSpPr/>
          <p:nvPr/>
        </p:nvSpPr>
        <p:spPr>
          <a:xfrm>
            <a:off x="9626563" y="5090811"/>
            <a:ext cx="74808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Capacidade atômica e reutilizável que o Agent pode invocar. Faz </a:t>
            </a:r>
            <a:r>
              <a:rPr b="1" i="0" lang="en-US" sz="1500" u="none" cap="none" strike="noStrike">
                <a:solidFill>
                  <a:srgbClr val="FF6200"/>
                </a:solidFill>
                <a:latin typeface="Arial"/>
                <a:ea typeface="Arial"/>
                <a:cs typeface="Arial"/>
                <a:sym typeface="Arial"/>
              </a:rPr>
              <a:t>uma coisa só </a:t>
            </a:r>
            <a:r>
              <a:rPr b="0" i="0" lang="en-US" sz="15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, bem feita — sem saber o contexto maior da tarefa.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dbbabf6fc9_0_81"/>
          <p:cNvSpPr/>
          <p:nvPr/>
        </p:nvSpPr>
        <p:spPr>
          <a:xfrm>
            <a:off x="9626563" y="6300486"/>
            <a:ext cx="76200" cy="76200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dbbabf6fc9_0_81"/>
          <p:cNvSpPr/>
          <p:nvPr/>
        </p:nvSpPr>
        <p:spPr>
          <a:xfrm>
            <a:off x="9855163" y="6224286"/>
            <a:ext cx="5676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Atômica: </a:t>
            </a:r>
            <a:r>
              <a:rPr b="0" i="0" lang="en-US" sz="15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executa uma ação específica com input → output claro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dbbabf6fc9_0_81"/>
          <p:cNvSpPr/>
          <p:nvPr/>
        </p:nvSpPr>
        <p:spPr>
          <a:xfrm>
            <a:off x="9626563" y="6738636"/>
            <a:ext cx="76200" cy="76200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dbbabf6fc9_0_81"/>
          <p:cNvSpPr/>
          <p:nvPr/>
        </p:nvSpPr>
        <p:spPr>
          <a:xfrm>
            <a:off x="9855163" y="6662436"/>
            <a:ext cx="6013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Sem contexto: </a:t>
            </a:r>
            <a:r>
              <a:rPr b="0" i="0" lang="en-US" sz="15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não sabe o objetivo maior — só obedece a chamada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dbbabf6fc9_0_81"/>
          <p:cNvSpPr/>
          <p:nvPr/>
        </p:nvSpPr>
        <p:spPr>
          <a:xfrm>
            <a:off x="9626563" y="7176786"/>
            <a:ext cx="76200" cy="76200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dbbabf6fc9_0_81"/>
          <p:cNvSpPr/>
          <p:nvPr/>
        </p:nvSpPr>
        <p:spPr>
          <a:xfrm>
            <a:off x="9855163" y="7100586"/>
            <a:ext cx="4931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Reutilizável: </a:t>
            </a:r>
            <a:r>
              <a:rPr b="0" i="0" lang="en-US" sz="15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qualquer agent pode invocar a mesma skill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dbbabf6fc9_0_81"/>
          <p:cNvSpPr/>
          <p:nvPr/>
        </p:nvSpPr>
        <p:spPr>
          <a:xfrm>
            <a:off x="9626563" y="7614936"/>
            <a:ext cx="76200" cy="76200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dbbabf6fc9_0_81"/>
          <p:cNvSpPr/>
          <p:nvPr/>
        </p:nvSpPr>
        <p:spPr>
          <a:xfrm>
            <a:off x="9855163" y="7538736"/>
            <a:ext cx="6239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Exemplos: </a:t>
            </a:r>
            <a:r>
              <a:rPr b="0" i="0" lang="en-US" sz="15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ler repositório, rodar testes, abrir PR, buscar documentação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dbbabf6fc9_0_81"/>
          <p:cNvSpPr/>
          <p:nvPr/>
        </p:nvSpPr>
        <p:spPr>
          <a:xfrm>
            <a:off x="8807425" y="5773625"/>
            <a:ext cx="6858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dbbabf6fc9_0_81"/>
          <p:cNvSpPr/>
          <p:nvPr/>
        </p:nvSpPr>
        <p:spPr>
          <a:xfrm>
            <a:off x="1428750" y="1067550"/>
            <a:ext cx="25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12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dbbabf6fc9_0_81"/>
          <p:cNvSpPr/>
          <p:nvPr/>
        </p:nvSpPr>
        <p:spPr>
          <a:xfrm>
            <a:off x="1872629" y="1048350"/>
            <a:ext cx="3179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AI COMO ACELERADOR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dbbabf6fc9_0_81"/>
          <p:cNvSpPr/>
          <p:nvPr/>
        </p:nvSpPr>
        <p:spPr>
          <a:xfrm>
            <a:off x="1333500" y="1019850"/>
            <a:ext cx="444000" cy="342900"/>
          </a:xfrm>
          <a:prstGeom prst="ellipse">
            <a:avLst/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4"/>
          <p:cNvSpPr/>
          <p:nvPr/>
        </p:nvSpPr>
        <p:spPr>
          <a:xfrm>
            <a:off x="1143000" y="952500"/>
            <a:ext cx="441573" cy="342900"/>
          </a:xfrm>
          <a:prstGeom prst="ellipse">
            <a:avLst/>
          </a:prstGeom>
          <a:noFill/>
          <a:ln cap="flat" cmpd="sng" w="19050">
            <a:solidFill>
              <a:srgbClr val="FF6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4"/>
          <p:cNvSpPr/>
          <p:nvPr/>
        </p:nvSpPr>
        <p:spPr>
          <a:xfrm>
            <a:off x="1238250" y="1009650"/>
            <a:ext cx="25107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350"/>
              <a:buFont typeface="Manrope"/>
              <a:buNone/>
            </a:pPr>
            <a:r>
              <a:rPr b="1" i="0" lang="en-US" sz="135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13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1736973" y="1000125"/>
            <a:ext cx="475530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6200"/>
                </a:solidFill>
                <a:latin typeface="Inter"/>
                <a:ea typeface="Inter"/>
                <a:cs typeface="Inter"/>
                <a:sym typeface="Inter"/>
              </a:rPr>
              <a:t>CONCLUSÃO E PRÓXIMOS PASSOS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4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Três coisas para levar. Uma coisa para devolver.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1143000" y="4195018"/>
            <a:ext cx="8395841" cy="190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4"/>
          <p:cNvSpPr/>
          <p:nvPr/>
        </p:nvSpPr>
        <p:spPr>
          <a:xfrm>
            <a:off x="1143000" y="3008263"/>
            <a:ext cx="685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4200"/>
              <a:buFont typeface="Manrope"/>
              <a:buNone/>
            </a:pPr>
            <a:r>
              <a:rPr b="1" i="0" lang="en-US" sz="42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1981200" y="3208288"/>
            <a:ext cx="7784370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A arquitetura atual </a:t>
            </a: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chegou no limite. </a:t>
            </a: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Não é dívida técnica — é teto de produto.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1143000" y="5934224"/>
            <a:ext cx="8395841" cy="190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4"/>
          <p:cNvSpPr/>
          <p:nvPr/>
        </p:nvSpPr>
        <p:spPr>
          <a:xfrm>
            <a:off x="1143000" y="4747468"/>
            <a:ext cx="685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4200"/>
              <a:buFont typeface="Manrope"/>
              <a:buNone/>
            </a:pPr>
            <a:r>
              <a:rPr b="1" i="0" lang="en-US" sz="42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4"/>
          <p:cNvSpPr/>
          <p:nvPr/>
        </p:nvSpPr>
        <p:spPr>
          <a:xfrm>
            <a:off x="1981200" y="4947493"/>
            <a:ext cx="7784370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Orquestrador + convivência </a:t>
            </a: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resolvem sem big bang. Evolução controlada, consumidor por consumidor.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1143000" y="6486674"/>
            <a:ext cx="685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200"/>
              </a:buClr>
              <a:buSzPts val="4200"/>
              <a:buFont typeface="Manrope"/>
              <a:buNone/>
            </a:pPr>
            <a:r>
              <a:rPr b="1" i="0" lang="en-US" sz="4200" u="none" cap="none" strike="noStrike">
                <a:solidFill>
                  <a:srgbClr val="FF6200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1981200" y="6686699"/>
            <a:ext cx="7784370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AI </a:t>
            </a: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acelera o caminho </a:t>
            </a:r>
            <a:r>
              <a:rPr b="0" i="0" lang="en-US" sz="210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, mas as decisões de produto e arquitetura continuam sendo de vocês.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10148441" y="2741563"/>
            <a:ext cx="6996410" cy="6783437"/>
          </a:xfrm>
          <a:prstGeom prst="roundRect">
            <a:avLst>
              <a:gd fmla="val 3370" name="adj"/>
            </a:avLst>
          </a:prstGeom>
          <a:solidFill>
            <a:srgbClr val="FF6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4"/>
          <p:cNvSpPr/>
          <p:nvPr/>
        </p:nvSpPr>
        <p:spPr>
          <a:xfrm>
            <a:off x="10567541" y="5318968"/>
            <a:ext cx="634295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 QUE PRECISAMOS DE VOCÊS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10567541" y="5709493"/>
            <a:ext cx="6342956" cy="4990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Manrope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Feedback sincero.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10567541" y="6360914"/>
            <a:ext cx="6342956" cy="6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 produto não é de uma squad. É de toda a comunidade — e a próxima decisão de desenho começa nesta sala.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Custódia de Ativos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8769846" y="9705975"/>
            <a:ext cx="183639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PRÓXIMOS PASSOS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16577667" y="9705975"/>
            <a:ext cx="64353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Inter"/>
                <a:ea typeface="Inter"/>
                <a:cs typeface="Inter"/>
                <a:sym typeface="Inter"/>
              </a:rPr>
              <a:t>14 / 14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2026-04-26T22:11:37Z</dcterms:created>
  <dc:creator>PptxGenJS</dc:creator>
</cp:coreProperties>
</file>